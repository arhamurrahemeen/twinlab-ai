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</p:sldIdLst>
  <p:sldSz cx="18288000" cy="10287000"/>
  <p:notesSz cx="10287000" cy="18288000"/>
  <p:embeddedFontLst>
    <p:embeddedFont>
      <p:font typeface="JetBrains Mono" panose="020B0604020202020204" charset="0"/>
      <p:regular r:id="rId23"/>
      <p:bold r:id="rId24"/>
      <p:italic r:id="rId25"/>
      <p:boldItalic r:id="rId26"/>
    </p:embeddedFont>
    <p:embeddedFont>
      <p:font typeface="Noto Nastaliq Urdu" panose="020F0502020204030204" pitchFamily="34" charset="-78"/>
      <p:regular r:id="rId27"/>
      <p:bold r:id="rId28"/>
    </p:embeddedFont>
    <p:embeddedFont>
      <p:font typeface="Space Grotesk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94660"/>
  </p:normalViewPr>
  <p:slideViewPr>
    <p:cSldViewPr snapToGrid="0">
      <p:cViewPr varScale="1">
        <p:scale>
          <a:sx n="40" d="100"/>
          <a:sy n="40" d="100"/>
        </p:scale>
        <p:origin x="5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TwinLab by OmniteX. Condition monitoring for Pakistani plants — sensors on the machine, alerts in Urdu, before it fails. NIC Karachi, August 2026.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pain: ring frames, compressors and gensets run flat out. Vibration and heat climb for weeks — nobody is watching. Then the line stops mid-shift and maintenance hears by phone call. The first warning today is the silence of a stopped line.</a:t>
            </a:r>
            <a:endParaRPr/>
          </a:p>
        </p:txBody>
      </p:sp>
      <p:sp>
        <p:nvSpPr>
          <p:cNvPr id="38" name="Google Shape;3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23,119 registered factories with 10+ employees run critical rotating equipment (Pakistan Bureau of Statistics). Foreign platforms that solve this — Siemens, IBM, GE, PTC — cost $300K–1M in year one. Plants earn in rupees; the fix is priced in dollars, and every devaluation widens the gap.</a:t>
            </a:r>
            <a:endParaRPr/>
          </a:p>
        </p:txBody>
      </p:sp>
      <p:sp>
        <p:nvSpPr>
          <p:cNvPr id="111" name="Google Shape;11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we exist: the software that warns a plant first is foreign, billed in dollars, and built for plants already on a foreign control stack. Motors, compressors, pumps and gensets — the machines that cause the stoppages — are covered by nobody at a price a Pakistani plant will pay. What we change: condition monitoring becomes standard equipment, not an enterprise luxury. Every rupee stays onshore. OmniteX builds the layer that lets Pakistani industry monitor its own physical assets; TwinLab is the first product.</a:t>
            </a:r>
            <a:endParaRPr/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Breakdowns stopped in three steps. Plug in a matchbox wireless sensor — magnetic, no drilling, live in under a day. Predict: vibration and temperature checked against ISO 20816 and OEM limits, resolving to Healthy, Watch or Alert. Prevent: an AI layer turns the trigger into a plain-language WhatsApp — which machine, what's wrong, which spare part, in Urdu or English.</a:t>
            </a:r>
            <a:endParaRPr/>
          </a:p>
        </p:txBody>
      </p:sp>
      <p:sp>
        <p:nvSpPr>
          <p:cNvPr id="149" name="Google Shape;14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product. A live fleet view: every machine resolves to Healthy, Watch or Alert against its rated limits. You watch vibration climb for weeks and act before the line stops — the deterministic engine decides, the AI explains.</a:t>
            </a:r>
            <a:endParaRPr/>
          </a:p>
        </p:txBody>
      </p:sp>
      <p:sp>
        <p:nvSpPr>
          <p:cNvPr id="179" name="Google Shape;17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alert is the product; the dashboard is the record. Neither the plant director nor the owner-operator will open a dashboard at 2am — both read WhatsApp in Urdu. The message names the machine, what is wrong, and the spare part.</a:t>
            </a:r>
            <a:endParaRPr/>
          </a:p>
        </p:txBody>
      </p:sp>
      <p:sp>
        <p:nvSpPr>
          <p:cNvPr id="242" name="Google Shape;24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Built end to end, in-house. Six layers, one team: sensing (ESP32, vibration + temperature, magnetic, locally sourceable), MQTT transport over the plant's existing WiFi, a single ingestion API, time-series + document storage, a deterministic rules engine against ISO 20816 + OEM limits, and an AI alert composer to role-routed WhatsApp. Containerised, CI/CD on every commit, single-command deployment to a new site. No PLC access, no firewall change, no IT sign-off.</a:t>
            </a:r>
            <a:endParaRPr/>
          </a:p>
        </p:txBody>
      </p:sp>
      <p:sp>
        <p:nvSpPr>
          <p:cNvPr id="277" name="Google Shape;27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phases, each gated on a condition rather than a date. P1 field-ready: bench MVP to first install at HSK Bone Care, gate is a first site producing continuous field data. P2 multi-site: second and third sites, fleet view, install playbook, gate is 3 sites live. P3 learned detection: anomaly models trained per machine, failure-window estimation, gate is enough labelled failure events. P4 plant-scale: enterprise on-premise tier, cellular fallback, gate is the first enterprise contract.</a:t>
            </a:r>
            <a:endParaRPr/>
          </a:p>
        </p:txBody>
      </p:sp>
      <p:sp>
        <p:nvSpPr>
          <p:cNvPr id="318" name="Google Shape;31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studied why a prior build-first startup failed, so we validated first. 10+ factory-floor conversations before any hardware, then the full stack in 8 weeks. 2nd Runner-Up at ELXR'26 Grand Finale, top 10 of 30 teams. First site lined up: HSK Bone Care, Karachi — related-party, disclosed, lined up not yet contracted, second site identified. Founder track record: PIAIC Agentic AI, CUDA, shipped ZeroBalance at the UBL hackathon. Rs 0 revenue, pre-revenue by design.</a:t>
            </a:r>
            <a:endParaRPr/>
          </a:p>
        </p:txBody>
      </p:sp>
      <p:sp>
        <p:nvSpPr>
          <p:cNvPr id="358" name="Google Shape;35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buyers, same failure, different cheque. The plant director: 45–55, mechanical or industrial engineering, 20+ years on Pakistani floors, runs plant OPEX, reports to the CEO. Buys because an unplanned stoppage costs a shift and the delivery contract doesn't care why. Won't buy if it touches the control system, needs a firewall change or IT sign-off. Rs 1.7 Cr per plant per year. The owner-operator: 40–60, owns one or two factories, runs it himself. Buys because one generator failure at the wrong hour costs more than a year of subscription. Won't buy if it needs cabling, drilling or staff training. Rs 50,000 per year. Both read WhatsApp in Urdu; neither opens a dashboard at 2am.</a:t>
            </a:r>
            <a:endParaRPr/>
          </a:p>
        </p:txBody>
      </p:sp>
      <p:sp>
        <p:nvSpPr>
          <p:cNvPr id="387" name="Google Shape;38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market the foreign vendors priced themselves out of. TAM Rs 900 Cr/yr — every manufacturer with critical rotating equipment. SAM Rs 95–130 Cr/yr — 55–75 serviceable enterprise plants. SOM by year 5 Rs 18–20 Cr/yr. Two buyers: the plant director at Rs 1.7 Cr/plant/yr and the owner-operator at Rs 50K/yr.</a:t>
            </a:r>
            <a:endParaRPr/>
          </a:p>
        </p:txBody>
      </p:sp>
      <p:sp>
        <p:nvSpPr>
          <p:cNvPr id="426" name="Google Shape;42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only condition-monitoring platform built for how Pakistani plants actually run. Non-invasive by design: magnetic sensors on the outside, no PLC access, no firewall change, no IT sign-off, installs in a day. Priced in rupees: no dollar exposure, no renewal that grows with the exchange rate. Urdu is the interface: the alert reaches the maintenance head in the language he works in, on the app in his hand. The machines nobody covers: compressors, gensets, motors, older lines — outside whatever control system a plant already has.</a:t>
            </a:r>
            <a:endParaRPr/>
          </a:p>
        </p:txBody>
      </p:sp>
      <p:sp>
        <p:nvSpPr>
          <p:cNvPr id="454" name="Google Shape;45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Four alternatives a Pakistani plant has today; none fit. Foreign SCAPM (Siemens, IBM, GE, PTC): USD 300K+, 6–18 months, touches the control system, billed in USD. Epsilon Systems (Karachi, Factory.net): ~USD 50K, weeks to months, touches control, PKR. Integrators (SCADA/MES shops): ~6 months, touches control, PKR. Excel or nothing: the real incumbent, Rs 0. </a:t>
            </a:r>
            <a:r>
              <a:rPr lang="en-US" dirty="0" err="1"/>
              <a:t>TwinLab</a:t>
            </a:r>
            <a:r>
              <a:rPr lang="en-US" dirty="0"/>
              <a:t>: Rs 50K/yr to Rs 1.7 Cr, under a day per machine, touches nothing, PKR. Our wedge is not price — it's the machines nobody instruments and the plants nobody sells to. Epsilon goes deeper and wider; we go the other way — one machine, nothing touched, live in a day.</a:t>
            </a:r>
            <a:endParaRPr dirty="0"/>
          </a:p>
        </p:txBody>
      </p:sp>
      <p:sp>
        <p:nvSpPr>
          <p:cNvPr id="474" name="Google Shape;47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6" name="Google Shape;55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Two motions; trust is the channel in both. SME motion (running now, Malaika): reach by warm introduction — family, </a:t>
            </a:r>
            <a:r>
              <a:rPr lang="en-US" dirty="0" err="1"/>
              <a:t>biradari</a:t>
            </a:r>
            <a:r>
              <a:rPr lang="en-US" dirty="0"/>
              <a:t>, referral; widen through chambers and trade associations (KATI, Karachi Chamber, SITE); prove with a free or discounted first install observed 30 days; convert at Rs 50,000/yr prepaid, one decision maker; compound via referral. Enterprise motion (Malaika leads, Arham on tech): reach through incubator and institutional introductions and named plant directors; qualify with a free 90-minute discovery visit; de-risk with a reference install on their least critical asset with a written success target; convert at Rs 1.7 Cr/plant/yr over a 6–12 month cycle; expand to the next plant and the sector peer group. The bridge: SME sites are the reference deployments that make the enterprise conversation possible.</a:t>
            </a:r>
            <a:endParaRPr dirty="0"/>
          </a:p>
        </p:txBody>
      </p:sp>
      <p:sp>
        <p:nvSpPr>
          <p:cNvPr id="557" name="Google Shape;55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Subscription revenue, two tiers, one upgrade path. Starter (SME): Rs 50,000/year/site, covers critical assets at one site, one-time hardware Rs 12,000 and installation Rs 10,000, cloud-hosted, the owner signs. Enterprise (textile &amp; FMCG): Rs 1.7 Cr/year/plant, full-plant coverage, hardware included, on-premise so sensor data never leaves the site, signed by the plant director with CFO approval. Both tiers are annual prepaid subscriptions in rupees — the recurring line is the business. Pre-revenue: every figure is a planning price benchmarked against foreign vendors' published pricing.</a:t>
            </a:r>
            <a:endParaRPr/>
          </a:p>
        </p:txBody>
      </p:sp>
      <p:sp>
        <p:nvSpPr>
          <p:cNvPr id="591" name="Google Shape;59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1" name="Google Shape;62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Rs 43 lac to run Year 1; most of it is people. OPEX Rs 33 lac/yr: stipends 14.4, engineer 4.8, technician 1.5, cloud &amp; WhatsApp API 3.6, field ops 2.4, rest 6.3. CAPEX Rs 10 lac one-time: sensor inventory 3.5, bench &amp; tools 1.5, certification 2.0, registration/legal/IP 1.0, machines 2.0. 60% is people; Rs 0 paid acquisition. Forecast: 2027 total revenue Rs 58 lac against Rs 46.7 lac cost, net +Rs 11.3 lac. The honest read: strip out the single enterprise contract and 2027 nets −Rs 37 lac. The SME tier funds learning and builds the reference sites; the enterprise contract is what turns the model.</a:t>
            </a:r>
            <a:endParaRPr/>
          </a:p>
        </p:txBody>
      </p:sp>
      <p:sp>
        <p:nvSpPr>
          <p:cNvPr id="622" name="Google Shape;62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2" name="Google Shape;67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numbers we manage against. Sites live: 0 now, to 3, 7, 12, 20, then 30 plus one plant by Q4 2027. Quarterly recurring revenue climbs from Rs 0 to Rs 46.3 lac in Q4 2027 — the quarter the first enterprise contract lands and the model turns. LTV:CAC roughly 5:1 — Rs 1.11 lac lifetime value against roughly Rs 22K to acquire, holding because acquisition is warm-intro, not paid. LTV assumes a 3-year site life; there is no churn data because there are no customers yet.</a:t>
            </a:r>
            <a:endParaRPr/>
          </a:p>
        </p:txBody>
      </p:sp>
      <p:sp>
        <p:nvSpPr>
          <p:cNvPr id="673" name="Google Shape;67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0" name="Google Shape;74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we want from NIC: the 12 months, plant-director and sector-association introductions, and mentors who've scaled industrial hardware. What NIC de-risks is the enterprise reach we can't buy. What the program proves: a working install base, a repeatable playbook, and the first enterprise reference.</a:t>
            </a:r>
            <a:endParaRPr/>
          </a:p>
        </p:txBody>
      </p:sp>
      <p:sp>
        <p:nvSpPr>
          <p:cNvPr id="741" name="Google Shape;74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5" name="Google Shape;76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rupee spent on foreign maintenance software leaves Pakistan. TwinLab keeps it here. Contact: Muhammad Arham, Founder &amp; CEO, OmniteX. arhamurrahemeen@gmail.com, +92 313 360 4959, linkedin.com/in/muhammad-arham-rajput, Karachi, Pakistan.</a:t>
            </a:r>
            <a:endParaRPr/>
          </a:p>
        </p:txBody>
      </p:sp>
      <p:sp>
        <p:nvSpPr>
          <p:cNvPr id="766" name="Google Shape;76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28" y="21221"/>
            <a:ext cx="18287872" cy="10286993"/>
          </a:xfrm>
          <a:prstGeom prst="rect">
            <a:avLst/>
          </a:prstGeom>
          <a:gradFill>
            <a:gsLst>
              <a:gs pos="0">
                <a:srgbClr val="1A3A5C">
                  <a:alpha val="5098"/>
                </a:srgbClr>
              </a:gs>
              <a:gs pos="100000">
                <a:srgbClr val="1A3A5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529" y="1927588"/>
            <a:ext cx="3098144" cy="309814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1047715" y="1008492"/>
            <a:ext cx="424995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PREDICTIVE MAINTENANCE· KARACHI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4764402" y="838120"/>
            <a:ext cx="2723330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425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NIC KARACHI · 2026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245347" y="2955056"/>
            <a:ext cx="8096285" cy="1545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7375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800"/>
              <a:buFont typeface="Space Grotesk"/>
              <a:buNone/>
            </a:pPr>
            <a:r>
              <a:rPr lang="en-US" sz="13800" b="1" i="0" u="none" strike="noStrike" cap="none" dirty="0" err="1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Twin</a:t>
            </a:r>
            <a:r>
              <a:rPr lang="en-US" sz="13800" b="1" i="0" u="none" strike="noStrike" cap="none" dirty="0" err="1">
                <a:solidFill>
                  <a:srgbClr val="2A7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Lab</a:t>
            </a:r>
            <a:endParaRPr sz="1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47715" y="4704351"/>
            <a:ext cx="12363447" cy="618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2729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350"/>
              <a:buFont typeface="Space Grotesk"/>
              <a:buNone/>
            </a:pPr>
            <a:r>
              <a:rPr lang="en-US" sz="4350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Predictive Maintenance </a:t>
            </a:r>
            <a:r>
              <a:rPr lang="en-US" sz="4350" b="0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 Pakistani plants.</a:t>
            </a:r>
            <a:endParaRPr sz="4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047715" y="5608206"/>
            <a:ext cx="9429648" cy="438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922"/>
              </a:lnSpc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2250"/>
              <a:buFont typeface="Space Grotesk"/>
              <a:buNone/>
            </a:pPr>
            <a:r>
              <a:rPr lang="en-US" sz="2250" b="0" i="0" u="none" strike="noStrike" cap="none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Sensors on the machine. Alerts in Urdu. Before it fails.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047715" y="6408242"/>
            <a:ext cx="1567856" cy="52901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2A7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303713" y="6530889"/>
            <a:ext cx="1132061" cy="32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50"/>
              <a:buFont typeface="JetBrains Mono"/>
              <a:buNone/>
            </a:pPr>
            <a:r>
              <a:rPr lang="en-US" sz="1650" b="0" i="0" u="none" strike="noStrike" cap="none">
                <a:solidFill>
                  <a:srgbClr val="1A3A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PLUG IN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825037" y="6509974"/>
            <a:ext cx="237537" cy="363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950"/>
              <a:buFont typeface="JetBrains Mono"/>
              <a:buNone/>
            </a:pPr>
            <a:r>
              <a:rPr lang="en-US" sz="1950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195839" y="6408242"/>
            <a:ext cx="1567856" cy="52901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2A7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451836" y="6530889"/>
            <a:ext cx="1132061" cy="32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50"/>
              <a:buFont typeface="JetBrains Mono"/>
              <a:buNone/>
            </a:pPr>
            <a:r>
              <a:rPr lang="en-US" sz="1650" b="0" i="0" u="none" strike="noStrike" cap="none">
                <a:solidFill>
                  <a:srgbClr val="1A3A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973160" y="6509974"/>
            <a:ext cx="237537" cy="363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950"/>
              <a:buFont typeface="JetBrains Mono"/>
              <a:buNone/>
            </a:pPr>
            <a:r>
              <a:rPr lang="en-US" sz="1950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343962" y="6408242"/>
            <a:ext cx="1567856" cy="52901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2A7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5599959" y="6530889"/>
            <a:ext cx="1132061" cy="32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50"/>
              <a:buFont typeface="JetBrains Mono"/>
              <a:buNone/>
            </a:pPr>
            <a:r>
              <a:rPr lang="en-US" sz="1650" b="0" i="0" u="none" strike="noStrike" cap="none">
                <a:solidFill>
                  <a:srgbClr val="1A3A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PREVENT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47715" y="9169239"/>
            <a:ext cx="1674141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350"/>
              <a:buFont typeface="JetBrains Mono"/>
              <a:buNone/>
            </a:pPr>
            <a:r>
              <a:rPr lang="en-US" sz="1350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PRODUCT OF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2532496" y="9098939"/>
            <a:ext cx="1143479" cy="37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100"/>
              <a:buFont typeface="Space Grotesk"/>
              <a:buNone/>
            </a:pPr>
            <a:r>
              <a:rPr lang="en-US" sz="2100" b="1" i="0" u="none" strike="noStrike" cap="none" dirty="0" err="1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Omni</a:t>
            </a:r>
            <a:r>
              <a:rPr lang="en-US" sz="2100" b="1" i="0" u="none" strike="noStrike" cap="none" dirty="0" err="1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te</a:t>
            </a:r>
            <a:r>
              <a:rPr lang="en-US" sz="2100" b="1" i="0" u="none" strike="noStrike" cap="none" dirty="0" err="1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X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851366" y="9153197"/>
            <a:ext cx="4603779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8E75"/>
              </a:buClr>
              <a:buSzPts val="1350"/>
              <a:buFont typeface="JetBrains Mono"/>
              <a:buNone/>
            </a:pPr>
            <a:r>
              <a:rPr lang="en-US" sz="1350" b="0" i="0" u="none" strike="noStrike" cap="none" dirty="0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KARACHI, PAKISTAN · AUGUST 2026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3" descr="preencoded.png"/>
          <p:cNvPicPr preferRelativeResize="0"/>
          <p:nvPr/>
        </p:nvPicPr>
        <p:blipFill rotWithShape="1">
          <a:blip r:embed="rId4">
            <a:alphaModFix amt="95000"/>
          </a:blip>
          <a:srcRect/>
          <a:stretch/>
        </p:blipFill>
        <p:spPr>
          <a:xfrm>
            <a:off x="15512716" y="7721432"/>
            <a:ext cx="1727441" cy="1727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5FB3C4">
                  <a:alpha val="5882"/>
                </a:srgbClr>
              </a:gs>
              <a:gs pos="100000">
                <a:srgbClr val="5FB3C4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047715" y="761951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PROBLEM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047715" y="1251572"/>
            <a:ext cx="15304730" cy="151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416"/>
              </a:lnSpc>
              <a:spcBef>
                <a:spcPts val="0"/>
              </a:spcBef>
              <a:spcAft>
                <a:spcPts val="0"/>
              </a:spcAft>
              <a:buClr>
                <a:srgbClr val="EAF4F7"/>
              </a:buClr>
              <a:buSzPts val="5700"/>
              <a:buFont typeface="Space Grotesk"/>
              <a:buNone/>
            </a:pPr>
            <a:r>
              <a:rPr lang="en-US" sz="5700" b="1" i="0" u="none" strike="noStrike" cap="none">
                <a:solidFill>
                  <a:srgbClr val="EAF4F7"/>
                </a:solidFill>
                <a:latin typeface="Space Grotesk"/>
                <a:ea typeface="Space Grotesk"/>
                <a:cs typeface="Space Grotesk"/>
                <a:sym typeface="Space Grotesk"/>
              </a:rPr>
              <a:t>A plant learns a machine is failing </a:t>
            </a:r>
            <a:r>
              <a:rPr lang="en-US" sz="5700" b="1" i="0" u="none" strike="noStrike" cap="none">
                <a:solidFill>
                  <a:srgbClr val="E08A7A"/>
                </a:solidFill>
                <a:latin typeface="Space Grotesk"/>
                <a:ea typeface="Space Grotesk"/>
                <a:cs typeface="Space Grotesk"/>
                <a:sym typeface="Space Grotesk"/>
              </a:rPr>
              <a:t>after it has already stopped.</a:t>
            </a:r>
            <a:endParaRPr sz="5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085800" y="6321117"/>
            <a:ext cx="272461" cy="213247"/>
          </a:xfrm>
          <a:custGeom>
            <a:avLst/>
            <a:gdLst/>
            <a:ahLst/>
            <a:cxnLst/>
            <a:rect l="l" t="t" r="r" b="b"/>
            <a:pathLst>
              <a:path w="272461" h="213247" extrusionOk="0">
                <a:moveTo>
                  <a:pt x="19050" y="0"/>
                </a:moveTo>
                <a:lnTo>
                  <a:pt x="253411" y="0"/>
                </a:lnTo>
                <a:cubicBezTo>
                  <a:pt x="258463" y="0"/>
                  <a:pt x="263309" y="2007"/>
                  <a:pt x="266881" y="5580"/>
                </a:cubicBezTo>
                <a:cubicBezTo>
                  <a:pt x="270454" y="9152"/>
                  <a:pt x="272461" y="13998"/>
                  <a:pt x="272461" y="19050"/>
                </a:cubicBezTo>
                <a:lnTo>
                  <a:pt x="272461" y="213247"/>
                </a:lnTo>
                <a:lnTo>
                  <a:pt x="0" y="213247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396345" y="6107739"/>
            <a:ext cx="272591" cy="426625"/>
          </a:xfrm>
          <a:custGeom>
            <a:avLst/>
            <a:gdLst/>
            <a:ahLst/>
            <a:cxnLst/>
            <a:rect l="l" t="t" r="r" b="b"/>
            <a:pathLst>
              <a:path w="272591" h="42662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426625"/>
                </a:lnTo>
                <a:lnTo>
                  <a:pt x="0" y="42662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707021" y="6267773"/>
            <a:ext cx="272461" cy="266592"/>
          </a:xfrm>
          <a:custGeom>
            <a:avLst/>
            <a:gdLst/>
            <a:ahLst/>
            <a:cxnLst/>
            <a:rect l="l" t="t" r="r" b="b"/>
            <a:pathLst>
              <a:path w="272461" h="266592" extrusionOk="0">
                <a:moveTo>
                  <a:pt x="19050" y="0"/>
                </a:moveTo>
                <a:lnTo>
                  <a:pt x="253411" y="0"/>
                </a:lnTo>
                <a:cubicBezTo>
                  <a:pt x="258463" y="0"/>
                  <a:pt x="263309" y="2007"/>
                  <a:pt x="266881" y="5580"/>
                </a:cubicBezTo>
                <a:cubicBezTo>
                  <a:pt x="270454" y="9152"/>
                  <a:pt x="272461" y="13998"/>
                  <a:pt x="272461" y="19050"/>
                </a:cubicBezTo>
                <a:lnTo>
                  <a:pt x="272461" y="266592"/>
                </a:lnTo>
                <a:lnTo>
                  <a:pt x="0" y="266592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2017566" y="6134346"/>
            <a:ext cx="272591" cy="400018"/>
          </a:xfrm>
          <a:custGeom>
            <a:avLst/>
            <a:gdLst/>
            <a:ahLst/>
            <a:cxnLst/>
            <a:rect l="l" t="t" r="r" b="b"/>
            <a:pathLst>
              <a:path w="272591" h="400018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400018"/>
                </a:lnTo>
                <a:lnTo>
                  <a:pt x="0" y="400018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2328242" y="6214428"/>
            <a:ext cx="272461" cy="319936"/>
          </a:xfrm>
          <a:custGeom>
            <a:avLst/>
            <a:gdLst/>
            <a:ahLst/>
            <a:cxnLst/>
            <a:rect l="l" t="t" r="r" b="b"/>
            <a:pathLst>
              <a:path w="272461" h="319936" extrusionOk="0">
                <a:moveTo>
                  <a:pt x="19050" y="0"/>
                </a:moveTo>
                <a:lnTo>
                  <a:pt x="253411" y="0"/>
                </a:lnTo>
                <a:cubicBezTo>
                  <a:pt x="258463" y="0"/>
                  <a:pt x="263309" y="2007"/>
                  <a:pt x="266881" y="5580"/>
                </a:cubicBezTo>
                <a:cubicBezTo>
                  <a:pt x="270454" y="9152"/>
                  <a:pt x="272461" y="13998"/>
                  <a:pt x="272461" y="19050"/>
                </a:cubicBezTo>
                <a:lnTo>
                  <a:pt x="272461" y="319936"/>
                </a:lnTo>
                <a:lnTo>
                  <a:pt x="0" y="31993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2638787" y="6161084"/>
            <a:ext cx="272591" cy="373280"/>
          </a:xfrm>
          <a:custGeom>
            <a:avLst/>
            <a:gdLst/>
            <a:ahLst/>
            <a:cxnLst/>
            <a:rect l="l" t="t" r="r" b="b"/>
            <a:pathLst>
              <a:path w="272591" h="373280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373280"/>
                </a:lnTo>
                <a:lnTo>
                  <a:pt x="0" y="373280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949463" y="6161084"/>
            <a:ext cx="272461" cy="373280"/>
          </a:xfrm>
          <a:custGeom>
            <a:avLst/>
            <a:gdLst/>
            <a:ahLst/>
            <a:cxnLst/>
            <a:rect l="l" t="t" r="r" b="b"/>
            <a:pathLst>
              <a:path w="272461" h="373280" extrusionOk="0">
                <a:moveTo>
                  <a:pt x="19050" y="0"/>
                </a:moveTo>
                <a:lnTo>
                  <a:pt x="253411" y="0"/>
                </a:lnTo>
                <a:cubicBezTo>
                  <a:pt x="258463" y="0"/>
                  <a:pt x="263309" y="2007"/>
                  <a:pt x="266881" y="5580"/>
                </a:cubicBezTo>
                <a:cubicBezTo>
                  <a:pt x="270454" y="9152"/>
                  <a:pt x="272461" y="13998"/>
                  <a:pt x="272461" y="19050"/>
                </a:cubicBezTo>
                <a:lnTo>
                  <a:pt x="272461" y="373280"/>
                </a:lnTo>
                <a:lnTo>
                  <a:pt x="0" y="373280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3260009" y="6187691"/>
            <a:ext cx="272591" cy="346673"/>
          </a:xfrm>
          <a:custGeom>
            <a:avLst/>
            <a:gdLst/>
            <a:ahLst/>
            <a:cxnLst/>
            <a:rect l="l" t="t" r="r" b="b"/>
            <a:pathLst>
              <a:path w="272591" h="346673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346673"/>
                </a:lnTo>
                <a:lnTo>
                  <a:pt x="0" y="346673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570684" y="6134346"/>
            <a:ext cx="272461" cy="400018"/>
          </a:xfrm>
          <a:custGeom>
            <a:avLst/>
            <a:gdLst/>
            <a:ahLst/>
            <a:cxnLst/>
            <a:rect l="l" t="t" r="r" b="b"/>
            <a:pathLst>
              <a:path w="272461" h="400018" extrusionOk="0">
                <a:moveTo>
                  <a:pt x="19050" y="0"/>
                </a:moveTo>
                <a:lnTo>
                  <a:pt x="253411" y="0"/>
                </a:lnTo>
                <a:cubicBezTo>
                  <a:pt x="258463" y="0"/>
                  <a:pt x="263309" y="2007"/>
                  <a:pt x="266881" y="5580"/>
                </a:cubicBezTo>
                <a:cubicBezTo>
                  <a:pt x="270454" y="9152"/>
                  <a:pt x="272461" y="13998"/>
                  <a:pt x="272461" y="19050"/>
                </a:cubicBezTo>
                <a:lnTo>
                  <a:pt x="272461" y="400018"/>
                </a:lnTo>
                <a:lnTo>
                  <a:pt x="0" y="400018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881230" y="6241035"/>
            <a:ext cx="272591" cy="293329"/>
          </a:xfrm>
          <a:custGeom>
            <a:avLst/>
            <a:gdLst/>
            <a:ahLst/>
            <a:cxnLst/>
            <a:rect l="l" t="t" r="r" b="b"/>
            <a:pathLst>
              <a:path w="272591" h="293329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293329"/>
                </a:lnTo>
                <a:lnTo>
                  <a:pt x="0" y="293329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191905" y="6107739"/>
            <a:ext cx="272461" cy="426625"/>
          </a:xfrm>
          <a:custGeom>
            <a:avLst/>
            <a:gdLst/>
            <a:ahLst/>
            <a:cxnLst/>
            <a:rect l="l" t="t" r="r" b="b"/>
            <a:pathLst>
              <a:path w="272461" h="426625" extrusionOk="0">
                <a:moveTo>
                  <a:pt x="19050" y="0"/>
                </a:moveTo>
                <a:lnTo>
                  <a:pt x="253411" y="0"/>
                </a:lnTo>
                <a:cubicBezTo>
                  <a:pt x="258463" y="0"/>
                  <a:pt x="263309" y="2007"/>
                  <a:pt x="266881" y="5580"/>
                </a:cubicBezTo>
                <a:cubicBezTo>
                  <a:pt x="270454" y="9152"/>
                  <a:pt x="272461" y="13998"/>
                  <a:pt x="272461" y="19050"/>
                </a:cubicBezTo>
                <a:lnTo>
                  <a:pt x="272461" y="426625"/>
                </a:lnTo>
                <a:lnTo>
                  <a:pt x="0" y="42662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502451" y="6294380"/>
            <a:ext cx="272591" cy="239985"/>
          </a:xfrm>
          <a:custGeom>
            <a:avLst/>
            <a:gdLst/>
            <a:ahLst/>
            <a:cxnLst/>
            <a:rect l="l" t="t" r="r" b="b"/>
            <a:pathLst>
              <a:path w="272591" h="23998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239985"/>
                </a:lnTo>
                <a:lnTo>
                  <a:pt x="0" y="23998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813127" y="6107739"/>
            <a:ext cx="272591" cy="426625"/>
          </a:xfrm>
          <a:custGeom>
            <a:avLst/>
            <a:gdLst/>
            <a:ahLst/>
            <a:cxnLst/>
            <a:rect l="l" t="t" r="r" b="b"/>
            <a:pathLst>
              <a:path w="272591" h="42662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426625"/>
                </a:lnTo>
                <a:lnTo>
                  <a:pt x="0" y="42662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123802" y="6294380"/>
            <a:ext cx="272591" cy="239985"/>
          </a:xfrm>
          <a:custGeom>
            <a:avLst/>
            <a:gdLst/>
            <a:ahLst/>
            <a:cxnLst/>
            <a:rect l="l" t="t" r="r" b="b"/>
            <a:pathLst>
              <a:path w="272591" h="23998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239985"/>
                </a:lnTo>
                <a:lnTo>
                  <a:pt x="0" y="23998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434478" y="6107739"/>
            <a:ext cx="272591" cy="426625"/>
          </a:xfrm>
          <a:custGeom>
            <a:avLst/>
            <a:gdLst/>
            <a:ahLst/>
            <a:cxnLst/>
            <a:rect l="l" t="t" r="r" b="b"/>
            <a:pathLst>
              <a:path w="272591" h="42662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426625"/>
                </a:lnTo>
                <a:lnTo>
                  <a:pt x="0" y="42662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5745154" y="6241035"/>
            <a:ext cx="272591" cy="293329"/>
          </a:xfrm>
          <a:custGeom>
            <a:avLst/>
            <a:gdLst/>
            <a:ahLst/>
            <a:cxnLst/>
            <a:rect l="l" t="t" r="r" b="b"/>
            <a:pathLst>
              <a:path w="272591" h="293329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293329"/>
                </a:lnTo>
                <a:lnTo>
                  <a:pt x="0" y="293329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FB3C4">
              <a:alpha val="7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055830" y="5974313"/>
            <a:ext cx="272591" cy="560051"/>
          </a:xfrm>
          <a:custGeom>
            <a:avLst/>
            <a:gdLst/>
            <a:ahLst/>
            <a:cxnLst/>
            <a:rect l="l" t="t" r="r" b="b"/>
            <a:pathLst>
              <a:path w="272591" h="560051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560051"/>
                </a:lnTo>
                <a:lnTo>
                  <a:pt x="0" y="560051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366506" y="5920969"/>
            <a:ext cx="272591" cy="613395"/>
          </a:xfrm>
          <a:custGeom>
            <a:avLst/>
            <a:gdLst/>
            <a:ahLst/>
            <a:cxnLst/>
            <a:rect l="l" t="t" r="r" b="b"/>
            <a:pathLst>
              <a:path w="272591" h="61339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613395"/>
                </a:lnTo>
                <a:lnTo>
                  <a:pt x="0" y="61339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677181" y="5947706"/>
            <a:ext cx="272591" cy="586658"/>
          </a:xfrm>
          <a:custGeom>
            <a:avLst/>
            <a:gdLst/>
            <a:ahLst/>
            <a:cxnLst/>
            <a:rect l="l" t="t" r="r" b="b"/>
            <a:pathLst>
              <a:path w="272591" h="586658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586658"/>
                </a:lnTo>
                <a:lnTo>
                  <a:pt x="0" y="586658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987857" y="5787673"/>
            <a:ext cx="272591" cy="746691"/>
          </a:xfrm>
          <a:custGeom>
            <a:avLst/>
            <a:gdLst/>
            <a:ahLst/>
            <a:cxnLst/>
            <a:rect l="l" t="t" r="r" b="b"/>
            <a:pathLst>
              <a:path w="272591" h="746691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746691"/>
                </a:lnTo>
                <a:lnTo>
                  <a:pt x="0" y="746691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7298532" y="5867624"/>
            <a:ext cx="272591" cy="666740"/>
          </a:xfrm>
          <a:custGeom>
            <a:avLst/>
            <a:gdLst/>
            <a:ahLst/>
            <a:cxnLst/>
            <a:rect l="l" t="t" r="r" b="b"/>
            <a:pathLst>
              <a:path w="272591" h="666740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666740"/>
                </a:lnTo>
                <a:lnTo>
                  <a:pt x="0" y="666740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7609208" y="5734328"/>
            <a:ext cx="272591" cy="800036"/>
          </a:xfrm>
          <a:custGeom>
            <a:avLst/>
            <a:gdLst/>
            <a:ahLst/>
            <a:cxnLst/>
            <a:rect l="l" t="t" r="r" b="b"/>
            <a:pathLst>
              <a:path w="272591" h="80003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800036"/>
                </a:lnTo>
                <a:lnTo>
                  <a:pt x="0" y="80003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7919884" y="5680984"/>
            <a:ext cx="272591" cy="853380"/>
          </a:xfrm>
          <a:custGeom>
            <a:avLst/>
            <a:gdLst/>
            <a:ahLst/>
            <a:cxnLst/>
            <a:rect l="l" t="t" r="r" b="b"/>
            <a:pathLst>
              <a:path w="272591" h="853380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853380"/>
                </a:lnTo>
                <a:lnTo>
                  <a:pt x="0" y="853380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8230560" y="5707721"/>
            <a:ext cx="272591" cy="826643"/>
          </a:xfrm>
          <a:custGeom>
            <a:avLst/>
            <a:gdLst/>
            <a:ahLst/>
            <a:cxnLst/>
            <a:rect l="l" t="t" r="r" b="b"/>
            <a:pathLst>
              <a:path w="272591" h="826643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826643"/>
                </a:lnTo>
                <a:lnTo>
                  <a:pt x="0" y="826643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8541236" y="5547688"/>
            <a:ext cx="272591" cy="986676"/>
          </a:xfrm>
          <a:custGeom>
            <a:avLst/>
            <a:gdLst/>
            <a:ahLst/>
            <a:cxnLst/>
            <a:rect l="l" t="t" r="r" b="b"/>
            <a:pathLst>
              <a:path w="272591" h="98667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986676"/>
                </a:lnTo>
                <a:lnTo>
                  <a:pt x="0" y="98667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8851911" y="5601033"/>
            <a:ext cx="272591" cy="933332"/>
          </a:xfrm>
          <a:custGeom>
            <a:avLst/>
            <a:gdLst/>
            <a:ahLst/>
            <a:cxnLst/>
            <a:rect l="l" t="t" r="r" b="b"/>
            <a:pathLst>
              <a:path w="272591" h="933332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933332"/>
                </a:lnTo>
                <a:lnTo>
                  <a:pt x="0" y="933332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9162587" y="5494344"/>
            <a:ext cx="272591" cy="1040020"/>
          </a:xfrm>
          <a:custGeom>
            <a:avLst/>
            <a:gdLst/>
            <a:ahLst/>
            <a:cxnLst/>
            <a:rect l="l" t="t" r="r" b="b"/>
            <a:pathLst>
              <a:path w="272591" h="1040020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040020"/>
                </a:lnTo>
                <a:lnTo>
                  <a:pt x="0" y="1040020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9473263" y="5414262"/>
            <a:ext cx="272591" cy="1120102"/>
          </a:xfrm>
          <a:custGeom>
            <a:avLst/>
            <a:gdLst/>
            <a:ahLst/>
            <a:cxnLst/>
            <a:rect l="l" t="t" r="r" b="b"/>
            <a:pathLst>
              <a:path w="272591" h="1120102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120102"/>
                </a:lnTo>
                <a:lnTo>
                  <a:pt x="0" y="1120102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9783939" y="5467606"/>
            <a:ext cx="272591" cy="1066758"/>
          </a:xfrm>
          <a:custGeom>
            <a:avLst/>
            <a:gdLst/>
            <a:ahLst/>
            <a:cxnLst/>
            <a:rect l="l" t="t" r="r" b="b"/>
            <a:pathLst>
              <a:path w="272591" h="1066758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066758"/>
                </a:lnTo>
                <a:lnTo>
                  <a:pt x="0" y="1066758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10094614" y="5307573"/>
            <a:ext cx="272591" cy="1226791"/>
          </a:xfrm>
          <a:custGeom>
            <a:avLst/>
            <a:gdLst/>
            <a:ahLst/>
            <a:cxnLst/>
            <a:rect l="l" t="t" r="r" b="b"/>
            <a:pathLst>
              <a:path w="272591" h="1226791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226791"/>
                </a:lnTo>
                <a:lnTo>
                  <a:pt x="0" y="1226791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10405290" y="5334310"/>
            <a:ext cx="272591" cy="1200054"/>
          </a:xfrm>
          <a:custGeom>
            <a:avLst/>
            <a:gdLst/>
            <a:ahLst/>
            <a:cxnLst/>
            <a:rect l="l" t="t" r="r" b="b"/>
            <a:pathLst>
              <a:path w="272591" h="1200054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200054"/>
                </a:lnTo>
                <a:lnTo>
                  <a:pt x="0" y="1200054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10715966" y="5254229"/>
            <a:ext cx="272591" cy="1280135"/>
          </a:xfrm>
          <a:custGeom>
            <a:avLst/>
            <a:gdLst/>
            <a:ahLst/>
            <a:cxnLst/>
            <a:rect l="l" t="t" r="r" b="b"/>
            <a:pathLst>
              <a:path w="272591" h="128013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280135"/>
                </a:lnTo>
                <a:lnTo>
                  <a:pt x="0" y="128013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11026642" y="4987637"/>
            <a:ext cx="272591" cy="1546727"/>
          </a:xfrm>
          <a:custGeom>
            <a:avLst/>
            <a:gdLst/>
            <a:ahLst/>
            <a:cxnLst/>
            <a:rect l="l" t="t" r="r" b="b"/>
            <a:pathLst>
              <a:path w="272591" h="1546727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546727"/>
                </a:lnTo>
                <a:lnTo>
                  <a:pt x="0" y="1546727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11337317" y="4987637"/>
            <a:ext cx="272591" cy="1546727"/>
          </a:xfrm>
          <a:custGeom>
            <a:avLst/>
            <a:gdLst/>
            <a:ahLst/>
            <a:cxnLst/>
            <a:rect l="l" t="t" r="r" b="b"/>
            <a:pathLst>
              <a:path w="272591" h="1546727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546727"/>
                </a:lnTo>
                <a:lnTo>
                  <a:pt x="0" y="1546727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1647994" y="4774259"/>
            <a:ext cx="272591" cy="1760105"/>
          </a:xfrm>
          <a:custGeom>
            <a:avLst/>
            <a:gdLst/>
            <a:ahLst/>
            <a:cxnLst/>
            <a:rect l="l" t="t" r="r" b="b"/>
            <a:pathLst>
              <a:path w="272591" h="176010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760105"/>
                </a:lnTo>
                <a:lnTo>
                  <a:pt x="0" y="176010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11958669" y="4614226"/>
            <a:ext cx="272591" cy="1920138"/>
          </a:xfrm>
          <a:custGeom>
            <a:avLst/>
            <a:gdLst/>
            <a:ahLst/>
            <a:cxnLst/>
            <a:rect l="l" t="t" r="r" b="b"/>
            <a:pathLst>
              <a:path w="272591" h="1920138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920138"/>
                </a:lnTo>
                <a:lnTo>
                  <a:pt x="0" y="1920138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12269345" y="4587489"/>
            <a:ext cx="272591" cy="1946875"/>
          </a:xfrm>
          <a:custGeom>
            <a:avLst/>
            <a:gdLst/>
            <a:ahLst/>
            <a:cxnLst/>
            <a:rect l="l" t="t" r="r" b="b"/>
            <a:pathLst>
              <a:path w="272591" h="1946875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946875"/>
                </a:lnTo>
                <a:lnTo>
                  <a:pt x="0" y="1946875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12580021" y="4374242"/>
            <a:ext cx="272591" cy="2160123"/>
          </a:xfrm>
          <a:custGeom>
            <a:avLst/>
            <a:gdLst/>
            <a:ahLst/>
            <a:cxnLst/>
            <a:rect l="l" t="t" r="r" b="b"/>
            <a:pathLst>
              <a:path w="272591" h="2160123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2160123"/>
                </a:lnTo>
                <a:lnTo>
                  <a:pt x="0" y="2160123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2890696" y="4214208"/>
            <a:ext cx="272591" cy="2320156"/>
          </a:xfrm>
          <a:custGeom>
            <a:avLst/>
            <a:gdLst/>
            <a:ahLst/>
            <a:cxnLst/>
            <a:rect l="l" t="t" r="r" b="b"/>
            <a:pathLst>
              <a:path w="272591" h="232015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2320156"/>
                </a:lnTo>
                <a:lnTo>
                  <a:pt x="0" y="232015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13201372" y="3867405"/>
            <a:ext cx="272591" cy="2666960"/>
          </a:xfrm>
          <a:custGeom>
            <a:avLst/>
            <a:gdLst/>
            <a:ahLst/>
            <a:cxnLst/>
            <a:rect l="l" t="t" r="r" b="b"/>
            <a:pathLst>
              <a:path w="272591" h="2666960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2666960"/>
                </a:lnTo>
                <a:lnTo>
                  <a:pt x="0" y="2666960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13512047" y="6427806"/>
            <a:ext cx="272591" cy="106558"/>
          </a:xfrm>
          <a:custGeom>
            <a:avLst/>
            <a:gdLst/>
            <a:ahLst/>
            <a:cxnLst/>
            <a:rect l="l" t="t" r="r" b="b"/>
            <a:pathLst>
              <a:path w="272591" h="106558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06558"/>
                </a:lnTo>
                <a:lnTo>
                  <a:pt x="0" y="106558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13822724" y="6454413"/>
            <a:ext cx="272591" cy="79951"/>
          </a:xfrm>
          <a:custGeom>
            <a:avLst/>
            <a:gdLst/>
            <a:ahLst/>
            <a:cxnLst/>
            <a:rect l="l" t="t" r="r" b="b"/>
            <a:pathLst>
              <a:path w="272591" h="79951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79951"/>
                </a:lnTo>
                <a:lnTo>
                  <a:pt x="0" y="79951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4133399" y="6401069"/>
            <a:ext cx="272591" cy="133296"/>
          </a:xfrm>
          <a:custGeom>
            <a:avLst/>
            <a:gdLst/>
            <a:ahLst/>
            <a:cxnLst/>
            <a:rect l="l" t="t" r="r" b="b"/>
            <a:pathLst>
              <a:path w="272591" h="13329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33296"/>
                </a:lnTo>
                <a:lnTo>
                  <a:pt x="0" y="13329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14444075" y="6401069"/>
            <a:ext cx="272591" cy="133296"/>
          </a:xfrm>
          <a:custGeom>
            <a:avLst/>
            <a:gdLst/>
            <a:ahLst/>
            <a:cxnLst/>
            <a:rect l="l" t="t" r="r" b="b"/>
            <a:pathLst>
              <a:path w="272591" h="13329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33296"/>
                </a:lnTo>
                <a:lnTo>
                  <a:pt x="0" y="13329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14754751" y="6454413"/>
            <a:ext cx="272591" cy="79951"/>
          </a:xfrm>
          <a:custGeom>
            <a:avLst/>
            <a:gdLst/>
            <a:ahLst/>
            <a:cxnLst/>
            <a:rect l="l" t="t" r="r" b="b"/>
            <a:pathLst>
              <a:path w="272591" h="79951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79951"/>
                </a:lnTo>
                <a:lnTo>
                  <a:pt x="0" y="79951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15065427" y="6401069"/>
            <a:ext cx="272591" cy="133296"/>
          </a:xfrm>
          <a:custGeom>
            <a:avLst/>
            <a:gdLst/>
            <a:ahLst/>
            <a:cxnLst/>
            <a:rect l="l" t="t" r="r" b="b"/>
            <a:pathLst>
              <a:path w="272591" h="13329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33296"/>
                </a:lnTo>
                <a:lnTo>
                  <a:pt x="0" y="13329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15376102" y="6401069"/>
            <a:ext cx="272591" cy="133296"/>
          </a:xfrm>
          <a:custGeom>
            <a:avLst/>
            <a:gdLst/>
            <a:ahLst/>
            <a:cxnLst/>
            <a:rect l="l" t="t" r="r" b="b"/>
            <a:pathLst>
              <a:path w="272591" h="13329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33296"/>
                </a:lnTo>
                <a:lnTo>
                  <a:pt x="0" y="13329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15686779" y="6454413"/>
            <a:ext cx="272591" cy="79951"/>
          </a:xfrm>
          <a:custGeom>
            <a:avLst/>
            <a:gdLst/>
            <a:ahLst/>
            <a:cxnLst/>
            <a:rect l="l" t="t" r="r" b="b"/>
            <a:pathLst>
              <a:path w="272591" h="79951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79951"/>
                </a:lnTo>
                <a:lnTo>
                  <a:pt x="0" y="79951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5997454" y="6401069"/>
            <a:ext cx="272591" cy="133296"/>
          </a:xfrm>
          <a:custGeom>
            <a:avLst/>
            <a:gdLst/>
            <a:ahLst/>
            <a:cxnLst/>
            <a:rect l="l" t="t" r="r" b="b"/>
            <a:pathLst>
              <a:path w="272591" h="13329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33296"/>
                </a:lnTo>
                <a:lnTo>
                  <a:pt x="0" y="13329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16308129" y="6401069"/>
            <a:ext cx="272591" cy="133296"/>
          </a:xfrm>
          <a:custGeom>
            <a:avLst/>
            <a:gdLst/>
            <a:ahLst/>
            <a:cxnLst/>
            <a:rect l="l" t="t" r="r" b="b"/>
            <a:pathLst>
              <a:path w="272591" h="133296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33296"/>
                </a:lnTo>
                <a:lnTo>
                  <a:pt x="0" y="133296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16618805" y="6427806"/>
            <a:ext cx="272591" cy="106558"/>
          </a:xfrm>
          <a:custGeom>
            <a:avLst/>
            <a:gdLst/>
            <a:ahLst/>
            <a:cxnLst/>
            <a:rect l="l" t="t" r="r" b="b"/>
            <a:pathLst>
              <a:path w="272591" h="106558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06558"/>
                </a:lnTo>
                <a:lnTo>
                  <a:pt x="0" y="106558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16929481" y="6427806"/>
            <a:ext cx="272591" cy="106558"/>
          </a:xfrm>
          <a:custGeom>
            <a:avLst/>
            <a:gdLst/>
            <a:ahLst/>
            <a:cxnLst/>
            <a:rect l="l" t="t" r="r" b="b"/>
            <a:pathLst>
              <a:path w="272591" h="106558" extrusionOk="0">
                <a:moveTo>
                  <a:pt x="19050" y="0"/>
                </a:moveTo>
                <a:lnTo>
                  <a:pt x="253541" y="0"/>
                </a:lnTo>
                <a:cubicBezTo>
                  <a:pt x="258593" y="0"/>
                  <a:pt x="263439" y="2007"/>
                  <a:pt x="267011" y="5580"/>
                </a:cubicBezTo>
                <a:cubicBezTo>
                  <a:pt x="270584" y="9152"/>
                  <a:pt x="272591" y="13998"/>
                  <a:pt x="272591" y="19050"/>
                </a:cubicBezTo>
                <a:lnTo>
                  <a:pt x="272591" y="106558"/>
                </a:lnTo>
                <a:lnTo>
                  <a:pt x="0" y="106558"/>
                </a:ln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496A5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1047715" y="6724787"/>
            <a:ext cx="4033828" cy="16695"/>
          </a:xfrm>
          <a:prstGeom prst="rect">
            <a:avLst/>
          </a:prstGeom>
          <a:solidFill>
            <a:srgbClr val="5FB3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1047715" y="6893819"/>
            <a:ext cx="1164217" cy="338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800"/>
              <a:buFont typeface="JetBrains Mono"/>
              <a:buNone/>
            </a:pPr>
            <a:r>
              <a:rPr lang="en-US" sz="1800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RUNNING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047715" y="7289533"/>
            <a:ext cx="4437211" cy="35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977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875"/>
              <a:buFont typeface="Space Grotesk"/>
              <a:buNone/>
            </a:pPr>
            <a:r>
              <a:rPr lang="en-US" sz="1875" b="0" i="0" u="none" strike="noStrike" cap="none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Flat out, all shift.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100586" y="6724787"/>
            <a:ext cx="4033828" cy="16695"/>
          </a:xfrm>
          <a:prstGeom prst="rect">
            <a:avLst/>
          </a:pr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5100586" y="6893819"/>
            <a:ext cx="2881442" cy="338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9A6A"/>
              </a:buClr>
              <a:buSzPts val="1800"/>
              <a:buFont typeface="JetBrains Mono"/>
              <a:buNone/>
            </a:pPr>
            <a:r>
              <a:rPr lang="en-US" sz="1800" b="0" i="0" u="none" strike="noStrike" cap="none">
                <a:solidFill>
                  <a:srgbClr val="C79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DEGRADING · UNSEEN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096938" y="7289533"/>
            <a:ext cx="3777130" cy="68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977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875"/>
              <a:buFont typeface="Space Grotesk"/>
              <a:buNone/>
            </a:pPr>
            <a:r>
              <a:rPr lang="en-US" sz="1875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Vibration and heat climb for weeks. Nobody is watching.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9153458" y="6724787"/>
            <a:ext cx="4033828" cy="16695"/>
          </a:xfrm>
          <a:prstGeom prst="rect">
            <a:avLst/>
          </a:pr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9153458" y="6893819"/>
            <a:ext cx="1164217" cy="338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7A"/>
              </a:buClr>
              <a:buSzPts val="1800"/>
              <a:buFont typeface="JetBrains Mono"/>
              <a:buNone/>
            </a:pPr>
            <a:r>
              <a:rPr lang="en-US" sz="1800" b="0" i="0" u="none" strike="noStrike" cap="none">
                <a:solidFill>
                  <a:srgbClr val="E08A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FAILURE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9133768" y="7255478"/>
            <a:ext cx="3777130" cy="749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977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875"/>
              <a:buFont typeface="Space Grotesk"/>
              <a:buNone/>
            </a:pPr>
            <a:r>
              <a:rPr lang="en-US" sz="1875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line stops mid-shift. Maintenance hears by phone call.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3206328" y="6724787"/>
            <a:ext cx="4033828" cy="16695"/>
          </a:xfrm>
          <a:prstGeom prst="rect">
            <a:avLst/>
          </a:prstGeom>
          <a:solidFill>
            <a:srgbClr val="5567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3206328" y="6893819"/>
            <a:ext cx="1475024" cy="338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96A5"/>
              </a:buClr>
              <a:buSzPts val="1800"/>
              <a:buFont typeface="JetBrains Mono"/>
              <a:buNone/>
            </a:pPr>
            <a:r>
              <a:rPr lang="en-US" sz="1800" b="0" i="0" u="none" strike="noStrike" cap="none">
                <a:solidFill>
                  <a:srgbClr val="8496A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DEAD LINE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3206328" y="7289533"/>
            <a:ext cx="4437211" cy="35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6977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875"/>
              <a:buFont typeface="Space Grotesk"/>
              <a:buNone/>
            </a:pPr>
            <a:r>
              <a:rPr lang="en-US" sz="1875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Emergency repair. The order slips.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47715" y="9071680"/>
            <a:ext cx="13620667" cy="49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849"/>
              </a:lnSpc>
              <a:spcBef>
                <a:spcPts val="0"/>
              </a:spcBef>
              <a:spcAft>
                <a:spcPts val="0"/>
              </a:spcAft>
              <a:buClr>
                <a:srgbClr val="8FB4C0"/>
              </a:buClr>
              <a:buSzPts val="2550"/>
              <a:buFont typeface="Space Grotesk"/>
              <a:buNone/>
            </a:pPr>
            <a:r>
              <a:rPr lang="en-US" sz="2550" b="0" i="0" u="none" strike="noStrike" cap="none">
                <a:solidFill>
                  <a:srgbClr val="8FB4C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first warning a plant gets today is the silence of a stopped line.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128" y="16042"/>
            <a:ext cx="18287872" cy="10286993"/>
          </a:xfrm>
          <a:prstGeom prst="rect">
            <a:avLst/>
          </a:prstGeom>
          <a:gradFill>
            <a:gsLst>
              <a:gs pos="0">
                <a:srgbClr val="1A3A5C">
                  <a:alpha val="5098"/>
                </a:srgbClr>
              </a:gs>
              <a:gs pos="100000">
                <a:srgbClr val="1A3A5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1047715" y="838120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9E3B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PROBLEM — THE COST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047715" y="1514245"/>
            <a:ext cx="17811686" cy="934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6681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7200"/>
              <a:buFont typeface="Space Grotesk"/>
              <a:buNone/>
            </a:pPr>
            <a:r>
              <a:rPr lang="en-US" sz="7200" b="1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PKR in. </a:t>
            </a:r>
            <a:r>
              <a:rPr lang="en-US" sz="7200" b="1" i="0" u="none" strike="noStrike" cap="none" dirty="0">
                <a:solidFill>
                  <a:srgbClr val="9E3B2E"/>
                </a:solidFill>
                <a:latin typeface="Space Grotesk"/>
                <a:ea typeface="Space Grotesk"/>
                <a:cs typeface="Space Grotesk"/>
                <a:sym typeface="Space Grotesk"/>
              </a:rPr>
              <a:t>USD out.</a:t>
            </a:r>
            <a:endParaRPr sz="7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047715" y="4203513"/>
            <a:ext cx="5041895" cy="2504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1047715" y="4476105"/>
            <a:ext cx="5546084" cy="876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45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6600"/>
              <a:buFont typeface="Space Grotesk"/>
              <a:buNone/>
            </a:pPr>
            <a:r>
              <a:rPr lang="en-US" sz="66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23,119</a:t>
            </a:r>
            <a:endParaRPr sz="6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047715" y="5485736"/>
            <a:ext cx="5193151" cy="81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7740"/>
              </a:lnSpc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2175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factories running critical rotating equipment.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047715" y="6472670"/>
            <a:ext cx="5546084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8E75"/>
              </a:buClr>
              <a:buSzPts val="135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PAKISTAN BUREAU OF STATISTICS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622924" y="4203513"/>
            <a:ext cx="5041895" cy="25042"/>
          </a:xfrm>
          <a:prstGeom prst="rect">
            <a:avLst/>
          </a:pr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6622924" y="4476105"/>
            <a:ext cx="5546084" cy="876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450"/>
              </a:lnSpc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6600"/>
              <a:buFont typeface="Space Grotesk"/>
              <a:buNone/>
            </a:pPr>
            <a:r>
              <a:rPr lang="en-US" sz="6600" b="1" i="0" u="none" strike="noStrike" cap="none">
                <a:solidFill>
                  <a:srgbClr val="9E3B2E"/>
                </a:solidFill>
                <a:latin typeface="Space Grotesk"/>
                <a:ea typeface="Space Grotesk"/>
                <a:cs typeface="Space Grotesk"/>
                <a:sym typeface="Space Grotesk"/>
              </a:rPr>
              <a:t>$300K–1M</a:t>
            </a:r>
            <a:endParaRPr sz="6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622924" y="5485736"/>
            <a:ext cx="5193151" cy="811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7740"/>
              </a:lnSpc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2175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year-1 cost of the foreign platforms that solve this.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622924" y="6472670"/>
            <a:ext cx="5546084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8E75"/>
              </a:buClr>
              <a:buSzPts val="135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SIEMENS · IBM · GE · PTC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2198132" y="4203513"/>
            <a:ext cx="5041895" cy="25042"/>
          </a:xfrm>
          <a:prstGeom prst="rect">
            <a:avLst/>
          </a:pr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12198132" y="4476105"/>
            <a:ext cx="5546084" cy="876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450"/>
              </a:lnSpc>
              <a:spcBef>
                <a:spcPts val="0"/>
              </a:spcBef>
              <a:spcAft>
                <a:spcPts val="0"/>
              </a:spcAft>
              <a:buClr>
                <a:srgbClr val="C79A6A"/>
              </a:buClr>
              <a:buSzPts val="6600"/>
              <a:buFont typeface="Space Grotesk"/>
              <a:buNone/>
            </a:pPr>
            <a:r>
              <a:rPr lang="en-US" sz="6600" b="1" i="0" u="none" strike="noStrike" cap="none">
                <a:solidFill>
                  <a:srgbClr val="C79A6A"/>
                </a:solidFill>
                <a:latin typeface="Space Grotesk"/>
                <a:ea typeface="Space Grotesk"/>
                <a:cs typeface="Space Grotesk"/>
                <a:sym typeface="Space Grotesk"/>
              </a:rPr>
              <a:t>× multiples</a:t>
            </a:r>
            <a:endParaRPr sz="6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2198132" y="5485736"/>
            <a:ext cx="5193151" cy="119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7740"/>
              </a:lnSpc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2175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an emergency repair costs over scheduled service — and the order slips.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2198132" y="6811259"/>
            <a:ext cx="5546084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8E75"/>
              </a:buClr>
              <a:buSzPts val="135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INDUSTRY ESTIMATE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047715" y="9022248"/>
            <a:ext cx="13620667" cy="46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768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400"/>
              <a:buFont typeface="Space Grotesk"/>
              <a:buNone/>
            </a:pPr>
            <a:r>
              <a:rPr lang="en-US" sz="2400" b="0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Plants earn in rupees. The fix is billed in dollars. Every devaluation widens the gap.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76010" y="7"/>
            <a:ext cx="18287872" cy="10286993"/>
          </a:xfrm>
          <a:prstGeom prst="rect">
            <a:avLst/>
          </a:prstGeom>
          <a:gradFill>
            <a:gsLst>
              <a:gs pos="0">
                <a:srgbClr val="5FB3C4">
                  <a:alpha val="5882"/>
                </a:srgbClr>
              </a:gs>
              <a:gs pos="100000">
                <a:srgbClr val="5FB3C4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5" name="Google Shape;135;p6"/>
          <p:cNvSpPr/>
          <p:nvPr/>
        </p:nvSpPr>
        <p:spPr>
          <a:xfrm>
            <a:off x="1047715" y="838120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VISION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047715" y="3087063"/>
            <a:ext cx="15304730" cy="2427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202"/>
              </a:lnSpc>
              <a:spcBef>
                <a:spcPts val="0"/>
              </a:spcBef>
              <a:spcAft>
                <a:spcPts val="0"/>
              </a:spcAft>
              <a:buClr>
                <a:srgbClr val="EAF4F7"/>
              </a:buClr>
              <a:buSzPts val="6150"/>
              <a:buFont typeface="Space Grotesk"/>
              <a:buNone/>
            </a:pPr>
            <a:r>
              <a:rPr lang="en-US" sz="6150" b="1" i="0" u="none" strike="noStrike" cap="none" dirty="0">
                <a:solidFill>
                  <a:srgbClr val="EAF4F7"/>
                </a:solidFill>
                <a:latin typeface="Space Grotesk"/>
                <a:ea typeface="Space Grotesk"/>
                <a:cs typeface="Space Grotesk"/>
                <a:sym typeface="Space Grotesk"/>
              </a:rPr>
              <a:t>Pakistani industry should not have to </a:t>
            </a:r>
            <a:r>
              <a:rPr lang="en-US" sz="6150" b="1" i="0" u="none" strike="noStrike" cap="none" dirty="0">
                <a:solidFill>
                  <a:srgbClr val="5FB3C4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import the ability to see its own machines.</a:t>
            </a:r>
            <a:endParaRPr sz="6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047715" y="6520820"/>
            <a:ext cx="5067328" cy="16695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1047715" y="6717895"/>
            <a:ext cx="5574061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9A6A"/>
              </a:buClr>
              <a:buSzPts val="1200"/>
              <a:buFont typeface="JetBrains Mono"/>
              <a:buNone/>
            </a:pPr>
            <a:r>
              <a:rPr lang="en-US" sz="2400" b="0" i="0" u="none" strike="noStrike" cap="none" dirty="0">
                <a:solidFill>
                  <a:srgbClr val="C79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WHY WE EXIST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047715" y="7179861"/>
            <a:ext cx="5219348" cy="142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304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9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Motors, compressors, pumps and gensets — the machines that cause the stoppages — are covered by nobody, at any price a plant will pay.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610272" y="6520820"/>
            <a:ext cx="5067328" cy="16695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610272" y="6717895"/>
            <a:ext cx="5574061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200"/>
              <a:buFont typeface="JetBrains Mono"/>
              <a:buNone/>
            </a:pPr>
            <a:r>
              <a:rPr lang="en-US" sz="24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WE CHANGE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610272" y="7179861"/>
            <a:ext cx="5219348" cy="107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304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9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Predictive Maintenance becomes standard equipment in textile and FMCG plants — billed in rupees, read on the floor.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2172829" y="6520820"/>
            <a:ext cx="5067328" cy="16695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2172829" y="6717895"/>
            <a:ext cx="5574061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7D5A"/>
              </a:buClr>
              <a:buSzPts val="1200"/>
              <a:buFont typeface="JetBrains Mono"/>
              <a:buNone/>
            </a:pPr>
            <a:r>
              <a:rPr lang="en-US" sz="2400" b="0" i="0" u="none" strike="noStrike" cap="none" dirty="0">
                <a:solidFill>
                  <a:srgbClr val="3E7D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WHY IT MATTERS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2172829" y="7179861"/>
            <a:ext cx="5219348" cy="142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304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9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Every rupee stays onshore instead of leaving for Germany, the USA or Ireland. Plants that don't stop deliver the orders they promised.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2A7A8A">
                  <a:alpha val="5098"/>
                </a:srgbClr>
              </a:gs>
              <a:gs pos="100000">
                <a:srgbClr val="2A7A8A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47715" y="761951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SOLUTION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047715" y="1194445"/>
            <a:ext cx="17811686" cy="72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246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5400"/>
              <a:buFont typeface="Space Grotesk"/>
              <a:buNone/>
            </a:pPr>
            <a:r>
              <a:rPr lang="en-US" sz="5400" b="1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Breakdowns stopped in three steps.</a:t>
            </a:r>
            <a:endParaRPr sz="5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047715" y="2070650"/>
            <a:ext cx="17811686" cy="37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2100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drilling. No rewiring. No production stop. Live on a machine within a day.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047715" y="2899771"/>
            <a:ext cx="5168800" cy="6625271"/>
          </a:xfrm>
          <a:prstGeom prst="roundRect">
            <a:avLst>
              <a:gd name="adj" fmla="val 3686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171450" dir="5400000" algn="bl" rotWithShape="0">
              <a:srgbClr val="12293F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437038" y="3410651"/>
            <a:ext cx="419091" cy="413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2250"/>
              <a:buFont typeface="JetBrains Mono"/>
              <a:buNone/>
            </a:pPr>
            <a:r>
              <a:rPr lang="en-US" sz="225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932268" y="3327178"/>
            <a:ext cx="1361665" cy="52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3000"/>
              <a:buFont typeface="Space Grotesk"/>
              <a:buNone/>
            </a:pPr>
            <a:r>
              <a:rPr lang="en-US" sz="30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Plug in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437038" y="4001744"/>
            <a:ext cx="4521858" cy="111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950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A matchbox-sized wireless sensor clips onto the machine. Magnetic mount — no drilling, no downtime.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437038" y="8913994"/>
            <a:ext cx="482916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125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MAGNETIC · WIRELESS · &lt; 1 DAY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559406" y="2899771"/>
            <a:ext cx="5168930" cy="6625271"/>
          </a:xfrm>
          <a:prstGeom prst="roundRect">
            <a:avLst>
              <a:gd name="adj" fmla="val 3685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171450" dir="5400000" algn="bl" rotWithShape="0">
              <a:srgbClr val="12293F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7"/>
          <p:cNvSpPr/>
          <p:nvPr/>
        </p:nvSpPr>
        <p:spPr>
          <a:xfrm>
            <a:off x="6948729" y="3410651"/>
            <a:ext cx="419091" cy="413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2250"/>
              <a:buFont typeface="JetBrains Mono"/>
              <a:buNone/>
            </a:pPr>
            <a:r>
              <a:rPr lang="en-US" sz="225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7443958" y="3327178"/>
            <a:ext cx="1460946" cy="52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3000"/>
              <a:buFont typeface="Space Grotesk"/>
              <a:buNone/>
            </a:pPr>
            <a:r>
              <a:rPr lang="en-US" sz="30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948729" y="4001744"/>
            <a:ext cx="4521993" cy="111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950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Vibration and temperature are checked continuously against the machine's rated limits.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6794C1-11BE-3385-7B16-37A743ABB9EF}"/>
              </a:ext>
            </a:extLst>
          </p:cNvPr>
          <p:cNvGrpSpPr/>
          <p:nvPr/>
        </p:nvGrpSpPr>
        <p:grpSpPr>
          <a:xfrm>
            <a:off x="6880155" y="6035758"/>
            <a:ext cx="1621438" cy="630844"/>
            <a:chOff x="6948729" y="5269358"/>
            <a:chExt cx="906464" cy="352673"/>
          </a:xfrm>
        </p:grpSpPr>
        <p:sp>
          <p:nvSpPr>
            <p:cNvPr id="164" name="Google Shape;164;p7"/>
            <p:cNvSpPr/>
            <p:nvPr/>
          </p:nvSpPr>
          <p:spPr>
            <a:xfrm>
              <a:off x="6948729" y="5269358"/>
              <a:ext cx="906464" cy="352673"/>
            </a:xfrm>
            <a:prstGeom prst="roundRect">
              <a:avLst>
                <a:gd name="adj" fmla="val 21606"/>
              </a:avLst>
            </a:prstGeom>
            <a:solidFill>
              <a:srgbClr val="3E7D5A">
                <a:alpha val="12157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7082079" y="5345558"/>
              <a:ext cx="715964" cy="2383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Clr>
                  <a:srgbClr val="3E7D5A"/>
                </a:buClr>
                <a:buSzPts val="1200"/>
                <a:buFont typeface="JetBrains Mono"/>
                <a:buNone/>
              </a:pPr>
              <a:r>
                <a:rPr lang="en-US" sz="1800" b="0" i="0" u="none" strike="noStrike" cap="none" dirty="0">
                  <a:solidFill>
                    <a:srgbClr val="3E7D5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Healthy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5CE20D0-4310-26DA-FD72-C17E501C94E1}"/>
              </a:ext>
            </a:extLst>
          </p:cNvPr>
          <p:cNvGrpSpPr/>
          <p:nvPr/>
        </p:nvGrpSpPr>
        <p:grpSpPr>
          <a:xfrm>
            <a:off x="8605780" y="6008483"/>
            <a:ext cx="1294351" cy="630844"/>
            <a:chOff x="7950404" y="5269358"/>
            <a:chExt cx="723606" cy="352673"/>
          </a:xfrm>
        </p:grpSpPr>
        <p:sp>
          <p:nvSpPr>
            <p:cNvPr id="166" name="Google Shape;166;p7"/>
            <p:cNvSpPr/>
            <p:nvPr/>
          </p:nvSpPr>
          <p:spPr>
            <a:xfrm>
              <a:off x="7950404" y="5269358"/>
              <a:ext cx="723606" cy="352673"/>
            </a:xfrm>
            <a:prstGeom prst="roundRect">
              <a:avLst>
                <a:gd name="adj" fmla="val 21606"/>
              </a:avLst>
            </a:prstGeom>
            <a:solidFill>
              <a:srgbClr val="C79A6A">
                <a:alpha val="16078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8083754" y="5345558"/>
              <a:ext cx="533106" cy="2383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Clr>
                  <a:srgbClr val="8B7355"/>
                </a:buClr>
                <a:buSzPts val="1200"/>
                <a:buFont typeface="JetBrains Mono"/>
                <a:buNone/>
              </a:pPr>
              <a:r>
                <a:rPr lang="en-US" sz="1800" b="0" i="0" u="none" strike="noStrike" cap="none" dirty="0">
                  <a:solidFill>
                    <a:srgbClr val="8B73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Watch</a:t>
              </a: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6F1F32-BC2C-EC28-4BC0-6FB13DDE2141}"/>
              </a:ext>
            </a:extLst>
          </p:cNvPr>
          <p:cNvGrpSpPr/>
          <p:nvPr/>
        </p:nvGrpSpPr>
        <p:grpSpPr>
          <a:xfrm>
            <a:off x="10004318" y="6018438"/>
            <a:ext cx="1294351" cy="630844"/>
            <a:chOff x="8769221" y="5269358"/>
            <a:chExt cx="723606" cy="352673"/>
          </a:xfrm>
        </p:grpSpPr>
        <p:sp>
          <p:nvSpPr>
            <p:cNvPr id="168" name="Google Shape;168;p7"/>
            <p:cNvSpPr/>
            <p:nvPr/>
          </p:nvSpPr>
          <p:spPr>
            <a:xfrm>
              <a:off x="8769221" y="5269358"/>
              <a:ext cx="723606" cy="352673"/>
            </a:xfrm>
            <a:prstGeom prst="roundRect">
              <a:avLst>
                <a:gd name="adj" fmla="val 21606"/>
              </a:avLst>
            </a:prstGeom>
            <a:solidFill>
              <a:srgbClr val="9E3B2E">
                <a:alpha val="12157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8902571" y="5336590"/>
              <a:ext cx="533106" cy="2383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Clr>
                  <a:srgbClr val="9E3B2E"/>
                </a:buClr>
                <a:buSzPts val="1200"/>
                <a:buFont typeface="JetBrains Mono"/>
                <a:buNone/>
              </a:pPr>
              <a:r>
                <a:rPr lang="en-US" sz="2000" b="0" i="0" u="none" strike="noStrike" cap="none" dirty="0">
                  <a:solidFill>
                    <a:srgbClr val="9E3B2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Alert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7"/>
          <p:cNvSpPr/>
          <p:nvPr/>
        </p:nvSpPr>
        <p:spPr>
          <a:xfrm>
            <a:off x="6948729" y="8913994"/>
            <a:ext cx="4829312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125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ISO 20816 + OEM LIMITS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2071227" y="2899771"/>
            <a:ext cx="5168930" cy="6625271"/>
          </a:xfrm>
          <a:prstGeom prst="roundRect">
            <a:avLst>
              <a:gd name="adj" fmla="val 3685"/>
            </a:avLst>
          </a:prstGeom>
          <a:solidFill>
            <a:srgbClr val="1A3A5C"/>
          </a:solidFill>
          <a:ln>
            <a:noFill/>
          </a:ln>
          <a:effectLst>
            <a:outerShdw blurRad="381000" dist="171450" dir="5400000" algn="bl" rotWithShape="0">
              <a:srgbClr val="12293F">
                <a:alpha val="6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12452203" y="3402304"/>
            <a:ext cx="419091" cy="413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2250"/>
              <a:buFont typeface="JetBrains Mono"/>
              <a:buNone/>
            </a:pPr>
            <a:r>
              <a:rPr lang="en-US" sz="2250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2947432" y="3318831"/>
            <a:ext cx="1555205" cy="52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Space Grotesk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2452203" y="3993396"/>
            <a:ext cx="4539188" cy="1474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3208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950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An AI layer turns the trigger into a plain-language WhatsApp: which machine, what's wrong, which spare part.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2452203" y="8922341"/>
            <a:ext cx="4847677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125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URDU + ENGLISH · ROUTED BY ROLE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5FB3C4">
                  <a:alpha val="5098"/>
                </a:srgbClr>
              </a:gs>
              <a:gs pos="100000">
                <a:srgbClr val="5FB3C4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857163" y="666740"/>
            <a:ext cx="11550551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· THE PRODUCT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857163" y="1042107"/>
            <a:ext cx="11550551" cy="60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6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Space Grotesk"/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See it degrading, weeks before it stops.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857163" y="1937485"/>
            <a:ext cx="16573548" cy="7682769"/>
          </a:xfrm>
          <a:prstGeom prst="roundRect">
            <a:avLst>
              <a:gd name="adj" fmla="val 2480"/>
            </a:avLst>
          </a:prstGeom>
          <a:solidFill>
            <a:srgbClr val="FAF8F3"/>
          </a:solidFill>
          <a:ln w="9525" cap="flat" cmpd="sng">
            <a:solidFill>
              <a:srgbClr val="D9D0C2"/>
            </a:solidFill>
            <a:prstDash val="solid"/>
            <a:round/>
            <a:headEnd type="none" w="sm" len="sm"/>
            <a:tailEnd type="none" w="sm" len="sm"/>
          </a:ln>
          <a:effectLst>
            <a:outerShdw blurRad="857250" dist="381000" dir="5400000" algn="bl" rotWithShape="0">
              <a:srgbClr val="000000">
                <a:alpha val="7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865510" y="1945832"/>
            <a:ext cx="16556852" cy="7609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865510" y="2698392"/>
            <a:ext cx="16556852" cy="9525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146874" y="2155298"/>
            <a:ext cx="1058798" cy="363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50"/>
              <a:buFont typeface="Space Grotesk"/>
              <a:buNone/>
            </a:pPr>
            <a:r>
              <a:rPr lang="en-US" sz="1950" b="1" i="0" u="none" strike="noStrike" cap="none" dirty="0" err="1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Twin</a:t>
            </a:r>
            <a:r>
              <a:rPr lang="en-US" sz="1950" b="1" i="0" u="none" strike="noStrike" cap="none" dirty="0" err="1">
                <a:solidFill>
                  <a:srgbClr val="2A7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Lab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262768" y="2198337"/>
            <a:ext cx="9525" cy="247549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2405585" y="2213597"/>
            <a:ext cx="3632207" cy="25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275"/>
              <a:buFont typeface="JetBrains Mono"/>
              <a:buNone/>
            </a:pPr>
            <a:r>
              <a:rPr lang="en-US" sz="1275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FLEET · HSK BONE CARE, KARACHI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3463268" y="2155297"/>
            <a:ext cx="1251181" cy="333631"/>
          </a:xfrm>
          <a:prstGeom prst="roundRect">
            <a:avLst>
              <a:gd name="adj" fmla="val 22840"/>
            </a:avLst>
          </a:prstGeom>
          <a:solidFill>
            <a:srgbClr val="3E7D5A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13596564" y="2279202"/>
            <a:ext cx="85690" cy="85690"/>
          </a:xfrm>
          <a:prstGeom prst="ellipse">
            <a:avLst/>
          </a:prstGeom>
          <a:solidFill>
            <a:srgbClr val="3E7D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13758423" y="2221945"/>
            <a:ext cx="898930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7D5A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3E7D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 Healthy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4847745" y="2155297"/>
            <a:ext cx="1068323" cy="333631"/>
          </a:xfrm>
          <a:prstGeom prst="roundRect">
            <a:avLst>
              <a:gd name="adj" fmla="val 22840"/>
            </a:avLst>
          </a:prstGeom>
          <a:solidFill>
            <a:srgbClr val="C79A6A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4981040" y="2279202"/>
            <a:ext cx="85690" cy="85690"/>
          </a:xfrm>
          <a:prstGeom prst="ellipse">
            <a:avLst/>
          </a:pr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15142900" y="2221945"/>
            <a:ext cx="716071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 Watch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16049363" y="2155297"/>
            <a:ext cx="1068323" cy="333631"/>
          </a:xfrm>
          <a:prstGeom prst="roundRect">
            <a:avLst>
              <a:gd name="adj" fmla="val 22840"/>
            </a:avLst>
          </a:prstGeom>
          <a:solidFill>
            <a:srgbClr val="9E3B2E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16182659" y="2279202"/>
            <a:ext cx="85690" cy="85690"/>
          </a:xfrm>
          <a:prstGeom prst="ellipse">
            <a:avLst/>
          </a:pr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16344519" y="2221945"/>
            <a:ext cx="716071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1200"/>
              <a:buFont typeface="JetBrains Mono"/>
              <a:buNone/>
            </a:pPr>
            <a:r>
              <a:rPr lang="en-US" sz="1200" b="0" i="0" u="none" strike="noStrike" cap="none">
                <a:solidFill>
                  <a:srgbClr val="9E3B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Alert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9337489" y="2706740"/>
            <a:ext cx="9525" cy="6905166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151144" y="2954289"/>
            <a:ext cx="7900711" cy="881683"/>
          </a:xfrm>
          <a:prstGeom prst="roundRect">
            <a:avLst>
              <a:gd name="adj" fmla="val 15124"/>
            </a:avLst>
          </a:prstGeom>
          <a:solidFill>
            <a:srgbClr val="FFFFFF"/>
          </a:solidFill>
          <a:ln w="16675" cap="flat" cmpd="sng">
            <a:solidFill>
              <a:srgbClr val="9E3B2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16200000" algn="bl" rotWithShape="0">
              <a:srgbClr val="9E3B2E">
                <a:alpha val="2274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1377303" y="3142364"/>
            <a:ext cx="2001681" cy="3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Ring Frame #3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1377303" y="3472604"/>
            <a:ext cx="2001681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SPINNING · BEARING 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9028" y="3195056"/>
            <a:ext cx="1047715" cy="40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6821924" y="3253096"/>
            <a:ext cx="1270515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9E3B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7.2</a:t>
            </a:r>
            <a:r>
              <a:rPr lang="en-US" sz="975" b="0" i="0" u="none" strike="noStrike" cap="none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5.6 mm/s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8263819" y="3258574"/>
            <a:ext cx="561877" cy="272852"/>
          </a:xfrm>
          <a:prstGeom prst="roundRect">
            <a:avLst>
              <a:gd name="adj" fmla="val 20945"/>
            </a:avLst>
          </a:pr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8359069" y="3315724"/>
            <a:ext cx="447577" cy="19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JetBrains Mono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ALERT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151144" y="3969268"/>
            <a:ext cx="7900711" cy="864988"/>
          </a:xfrm>
          <a:prstGeom prst="roundRect">
            <a:avLst>
              <a:gd name="adj" fmla="val 15416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368956" y="4148995"/>
            <a:ext cx="1817610" cy="3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Compressor A2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368956" y="4479235"/>
            <a:ext cx="1817610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UTILITY · SCREW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87375" y="4201687"/>
            <a:ext cx="1047715" cy="40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8"/>
          <p:cNvSpPr/>
          <p:nvPr/>
        </p:nvSpPr>
        <p:spPr>
          <a:xfrm>
            <a:off x="6830271" y="4259727"/>
            <a:ext cx="1270515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4.9</a:t>
            </a:r>
            <a:r>
              <a:rPr lang="en-US" sz="975" b="0" i="0" u="none" strike="noStrike" cap="none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5.5 mm/s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8272166" y="4265205"/>
            <a:ext cx="561877" cy="272852"/>
          </a:xfrm>
          <a:prstGeom prst="roundRect">
            <a:avLst>
              <a:gd name="adj" fmla="val 20945"/>
            </a:avLst>
          </a:pr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8367416" y="4322355"/>
            <a:ext cx="447577" cy="19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2C16"/>
              </a:buClr>
              <a:buSzPts val="975"/>
              <a:buFont typeface="JetBrains Mono"/>
              <a:buNone/>
            </a:pPr>
            <a:r>
              <a:rPr lang="en-US" sz="975" b="0" i="0" u="none" strike="noStrike" cap="none">
                <a:solidFill>
                  <a:srgbClr val="3A2C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WATCH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151144" y="4967551"/>
            <a:ext cx="7900711" cy="864988"/>
          </a:xfrm>
          <a:prstGeom prst="roundRect">
            <a:avLst>
              <a:gd name="adj" fmla="val 15416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1368956" y="5147279"/>
            <a:ext cx="1382755" cy="3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Generator 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368956" y="5477519"/>
            <a:ext cx="1382755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POWER · DIESEL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8819" y="5199972"/>
            <a:ext cx="1047715" cy="40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/>
          <p:nvPr/>
        </p:nvSpPr>
        <p:spPr>
          <a:xfrm>
            <a:off x="6681715" y="5258011"/>
            <a:ext cx="1270515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E7D5A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3E7D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2.1</a:t>
            </a:r>
            <a:r>
              <a:rPr lang="en-US" sz="975" b="0" i="0" u="none" strike="noStrike" cap="none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6.0 mm/s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123610" y="5263489"/>
            <a:ext cx="710433" cy="272852"/>
          </a:xfrm>
          <a:prstGeom prst="roundRect">
            <a:avLst>
              <a:gd name="adj" fmla="val 20945"/>
            </a:avLst>
          </a:prstGeom>
          <a:solidFill>
            <a:srgbClr val="3E7D5A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8218860" y="5320639"/>
            <a:ext cx="596133" cy="19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7D5A"/>
              </a:buClr>
              <a:buSzPts val="975"/>
              <a:buFont typeface="JetBrains Mono"/>
              <a:buNone/>
            </a:pPr>
            <a:r>
              <a:rPr lang="en-US" sz="975" b="0" i="0" u="none" strike="noStrike" cap="none">
                <a:solidFill>
                  <a:srgbClr val="3E7D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HEALTHY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151144" y="5965835"/>
            <a:ext cx="7900711" cy="864988"/>
          </a:xfrm>
          <a:prstGeom prst="roundRect">
            <a:avLst>
              <a:gd name="adj" fmla="val 15416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1368956" y="6145563"/>
            <a:ext cx="1747023" cy="3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Draw Frame D1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368956" y="6475802"/>
            <a:ext cx="1747023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SPINNING · MOTOR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38819" y="6198255"/>
            <a:ext cx="1047715" cy="40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8"/>
          <p:cNvSpPr/>
          <p:nvPr/>
        </p:nvSpPr>
        <p:spPr>
          <a:xfrm>
            <a:off x="6681715" y="6256295"/>
            <a:ext cx="1270515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E7D5A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3E7D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1.8</a:t>
            </a:r>
            <a:r>
              <a:rPr lang="en-US" sz="975" b="0" i="0" u="none" strike="noStrike" cap="none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4.5 mm/s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8123610" y="6261773"/>
            <a:ext cx="710433" cy="272852"/>
          </a:xfrm>
          <a:prstGeom prst="roundRect">
            <a:avLst>
              <a:gd name="adj" fmla="val 20945"/>
            </a:avLst>
          </a:prstGeom>
          <a:solidFill>
            <a:srgbClr val="3E7D5A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8218860" y="6318923"/>
            <a:ext cx="596133" cy="19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7D5A"/>
              </a:buClr>
              <a:buSzPts val="975"/>
              <a:buFont typeface="JetBrains Mono"/>
              <a:buNone/>
            </a:pPr>
            <a:r>
              <a:rPr lang="en-US" sz="975" b="0" i="0" u="none" strike="noStrike" cap="none">
                <a:solidFill>
                  <a:srgbClr val="3E7D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HEALTHY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9345837" y="2706740"/>
            <a:ext cx="8076396" cy="69051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9631470" y="2954289"/>
            <a:ext cx="4234920" cy="3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Ring Frame #3 — vibration, 30 days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4908524" y="3037762"/>
            <a:ext cx="2450882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1125"/>
              <a:buFont typeface="JetBrains Mono"/>
              <a:buNone/>
            </a:pPr>
            <a:r>
              <a:rPr lang="en-US" sz="1125" b="0" i="0" u="none" strike="noStrike" cap="none">
                <a:solidFill>
                  <a:srgbClr val="9E3B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threshold crossed · day 24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9631470" y="7986532"/>
            <a:ext cx="7505128" cy="9525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9631470" y="3417825"/>
            <a:ext cx="9525" cy="4577055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3" name="Google Shape;233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39817" y="3417825"/>
            <a:ext cx="7496781" cy="456870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/>
          <p:nvPr/>
        </p:nvSpPr>
        <p:spPr>
          <a:xfrm>
            <a:off x="16391863" y="3836885"/>
            <a:ext cx="744766" cy="196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975"/>
              <a:buFont typeface="JetBrains Mono"/>
              <a:buNone/>
            </a:pPr>
            <a:r>
              <a:rPr lang="en-US" sz="975" b="0" i="0" u="none" strike="noStrike" cap="none">
                <a:solidFill>
                  <a:srgbClr val="9E3B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ALERT 5.6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16391863" y="4408413"/>
            <a:ext cx="744766" cy="196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975"/>
              <a:buFont typeface="JetBrains Mono"/>
              <a:buNone/>
            </a:pPr>
            <a:r>
              <a:rPr lang="en-US" sz="975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WATCH 4.5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9631470" y="8166260"/>
            <a:ext cx="7505128" cy="1198097"/>
          </a:xfrm>
          <a:prstGeom prst="roundRect">
            <a:avLst>
              <a:gd name="adj" fmla="val 9540"/>
            </a:avLst>
          </a:prstGeom>
          <a:solidFill>
            <a:srgbClr val="EAF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9840935" y="8356682"/>
            <a:ext cx="7794818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RECOMMENDED ACTION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9840935" y="8608144"/>
            <a:ext cx="7298784" cy="60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907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50"/>
              <a:buFont typeface="Space Grotesk"/>
              <a:buNone/>
            </a:pPr>
            <a:r>
              <a:rPr lang="en-US" sz="1650" b="0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Likely bearing wear (DE). Inspect Ring Frame #3 before next shift. Spare: SKF 6205.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2A7A8A">
                  <a:alpha val="5098"/>
                </a:srgbClr>
              </a:gs>
              <a:gs pos="100000">
                <a:srgbClr val="2A7A8A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1047715" y="2468320"/>
            <a:ext cx="9929208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· THE ALERT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1047715" y="2996026"/>
            <a:ext cx="9929208" cy="761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839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5700"/>
              <a:buFont typeface="Space Grotesk"/>
              <a:buNone/>
            </a:pPr>
            <a:r>
              <a:rPr lang="en-US" sz="57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alert is the product.</a:t>
            </a:r>
            <a:endParaRPr sz="5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047715" y="4005526"/>
            <a:ext cx="6278746" cy="1744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768"/>
              </a:lnSpc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2400"/>
              <a:buFont typeface="Space Grotesk"/>
              <a:buNone/>
            </a:pPr>
            <a:r>
              <a:rPr lang="en-US" sz="2400" b="0" i="0" u="none" strike="noStrike" cap="none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dashboard is the record. Neither buyer opens a screen at 2am — both read WhatsApp, in the language they work in.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047715" y="6203864"/>
            <a:ext cx="95211" cy="95211"/>
          </a:xfrm>
          <a:prstGeom prst="ellipse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1295265" y="6092871"/>
            <a:ext cx="1879476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Which machine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047715" y="6673398"/>
            <a:ext cx="95211" cy="95211"/>
          </a:xfrm>
          <a:prstGeom prst="ellipse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1295265" y="6562406"/>
            <a:ext cx="1700270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What's wrong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047715" y="7142934"/>
            <a:ext cx="95211" cy="95211"/>
          </a:xfrm>
          <a:prstGeom prst="ellipse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1295265" y="7031941"/>
            <a:ext cx="2109157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50"/>
              <a:buFont typeface="Space Grotesk"/>
              <a:buNone/>
            </a:pPr>
            <a:r>
              <a:rPr lang="en-US" sz="2000" b="0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Which spare part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047715" y="7612469"/>
            <a:ext cx="95211" cy="95211"/>
          </a:xfrm>
          <a:prstGeom prst="ellipse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1295265" y="7501476"/>
            <a:ext cx="3714076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Urdu or English, routed by role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1942757" y="1095321"/>
            <a:ext cx="4095651" cy="8096221"/>
          </a:xfrm>
          <a:prstGeom prst="roundRect">
            <a:avLst>
              <a:gd name="adj" fmla="val 12093"/>
            </a:avLst>
          </a:prstGeom>
          <a:solidFill>
            <a:srgbClr val="0B141A"/>
          </a:solidFill>
          <a:ln w="9525" cap="flat" cmpd="sng">
            <a:solidFill>
              <a:srgbClr val="24333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0" dist="381000" dir="5400000" algn="bl" rotWithShape="0">
              <a:srgbClr val="12293F">
                <a:alpha val="5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12084400" y="1236964"/>
            <a:ext cx="3812365" cy="7812934"/>
          </a:xfrm>
          <a:prstGeom prst="roundRect">
            <a:avLst>
              <a:gd name="adj" fmla="val 9994"/>
            </a:avLst>
          </a:prstGeom>
          <a:solidFill>
            <a:srgbClr val="E4DD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12084400" y="1236964"/>
            <a:ext cx="3812365" cy="1013283"/>
          </a:xfrm>
          <a:prstGeom prst="rect">
            <a:avLst/>
          </a:prstGeom>
          <a:solidFill>
            <a:srgbClr val="1F5C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12293865" y="1733889"/>
            <a:ext cx="173107" cy="30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6DF"/>
              </a:buClr>
              <a:buSzPts val="1650"/>
              <a:buFont typeface="Space Grotesk"/>
              <a:buNone/>
            </a:pPr>
            <a:r>
              <a:rPr lang="en-US" sz="1650" b="0" i="0" u="none" strike="noStrike" cap="none">
                <a:solidFill>
                  <a:srgbClr val="CFE6DF"/>
                </a:solidFill>
                <a:latin typeface="Space Grotesk"/>
                <a:ea typeface="Space Grotesk"/>
                <a:cs typeface="Space Grotesk"/>
                <a:sym typeface="Space Grotesk"/>
              </a:rPr>
              <a:t>‹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2524067" y="1657850"/>
            <a:ext cx="419060" cy="419060"/>
          </a:xfrm>
          <a:prstGeom prst="ellipse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12485967" y="1657850"/>
            <a:ext cx="495260" cy="45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pace Grotesk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3076424" y="1656024"/>
            <a:ext cx="1620627" cy="28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414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pace Grotesk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TwinLab Alerts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3076424" y="1907486"/>
            <a:ext cx="1620627" cy="209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93362"/>
              </a:lnSpc>
              <a:spcBef>
                <a:spcPts val="0"/>
              </a:spcBef>
              <a:spcAft>
                <a:spcPts val="0"/>
              </a:spcAft>
              <a:buClr>
                <a:srgbClr val="A9D3C8"/>
              </a:buClr>
              <a:buSzPts val="1125"/>
              <a:buFont typeface="Space Grotesk"/>
              <a:buNone/>
            </a:pPr>
            <a:r>
              <a:rPr lang="en-US" sz="1125" b="0" i="0" u="none" strike="noStrike" cap="none">
                <a:solidFill>
                  <a:srgbClr val="A9D3C8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online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2084400" y="2250247"/>
            <a:ext cx="3812365" cy="6799651"/>
          </a:xfrm>
          <a:prstGeom prst="rect">
            <a:avLst/>
          </a:prstGeom>
          <a:gradFill>
            <a:gsLst>
              <a:gs pos="0">
                <a:srgbClr val="1F5C4D">
                  <a:alpha val="5098"/>
                </a:srgbClr>
              </a:gs>
              <a:gs pos="100000">
                <a:srgbClr val="1F5C4D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13374448" y="2459712"/>
            <a:ext cx="1232269" cy="272852"/>
          </a:xfrm>
          <a:prstGeom prst="roundRect">
            <a:avLst>
              <a:gd name="adj" fmla="val 27927"/>
            </a:avLst>
          </a:prstGeom>
          <a:solidFill>
            <a:srgbClr val="D3E5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13507798" y="2516862"/>
            <a:ext cx="1041769" cy="196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5850"/>
              </a:buClr>
              <a:buSzPts val="975"/>
              <a:buFont typeface="JetBrains Mono"/>
              <a:buNone/>
            </a:pPr>
            <a:r>
              <a:rPr lang="en-US" sz="975" b="0" i="0" u="none" strike="noStrike" cap="none">
                <a:solidFill>
                  <a:srgbClr val="3A585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TODAY · 02:14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2255780" y="2865860"/>
            <a:ext cx="3053152" cy="1810580"/>
          </a:xfrm>
          <a:custGeom>
            <a:avLst/>
            <a:gdLst/>
            <a:ahLst/>
            <a:cxnLst/>
            <a:rect l="l" t="t" r="r" b="b"/>
            <a:pathLst>
              <a:path w="3053152" h="1810580" extrusionOk="0">
                <a:moveTo>
                  <a:pt x="38100" y="0"/>
                </a:moveTo>
                <a:lnTo>
                  <a:pt x="2919802" y="0"/>
                </a:lnTo>
                <a:cubicBezTo>
                  <a:pt x="2955169" y="0"/>
                  <a:pt x="2989087" y="14049"/>
                  <a:pt x="3014095" y="39057"/>
                </a:cubicBezTo>
                <a:cubicBezTo>
                  <a:pt x="3039103" y="64065"/>
                  <a:pt x="3053152" y="97983"/>
                  <a:pt x="3053152" y="133350"/>
                </a:cubicBezTo>
                <a:lnTo>
                  <a:pt x="3053152" y="1677230"/>
                </a:lnTo>
                <a:cubicBezTo>
                  <a:pt x="3053152" y="1750877"/>
                  <a:pt x="2993449" y="1810580"/>
                  <a:pt x="2919802" y="1810580"/>
                </a:cubicBezTo>
                <a:lnTo>
                  <a:pt x="133350" y="1810580"/>
                </a:lnTo>
                <a:cubicBezTo>
                  <a:pt x="59703" y="1810580"/>
                  <a:pt x="0" y="1750877"/>
                  <a:pt x="0" y="167723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9050" dist="9525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12427161" y="3018198"/>
            <a:ext cx="2981431" cy="23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1125"/>
              <a:buFont typeface="JetBrains Mono"/>
              <a:buNone/>
            </a:pPr>
            <a:r>
              <a:rPr lang="en-US" sz="1125" b="1" i="0" u="none" strike="noStrike" cap="none">
                <a:solidFill>
                  <a:srgbClr val="9E3B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🔴 ALERT · Ring Frame #3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2427161" y="3286355"/>
            <a:ext cx="2791703" cy="105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2418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425"/>
              <a:buFont typeface="Space Grotesk"/>
              <a:buNone/>
            </a:pPr>
            <a:r>
              <a:rPr lang="en-US" sz="1600" b="0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Vibration 7.2 mm/s (limit 5.6). Likely bearing wear. Spare: SKF 6205. Inspect before next shift.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12156122" y="4357156"/>
            <a:ext cx="2981431" cy="20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A93"/>
              </a:buClr>
              <a:buSzPts val="975"/>
              <a:buFont typeface="Space Grotesk"/>
              <a:buNone/>
            </a:pPr>
            <a:r>
              <a:rPr lang="en-US" sz="975" b="0" i="0" u="none" strike="noStrike" cap="none">
                <a:solidFill>
                  <a:srgbClr val="8A9A93"/>
                </a:solidFill>
                <a:latin typeface="Space Grotesk"/>
                <a:ea typeface="Space Grotesk"/>
                <a:cs typeface="Space Grotesk"/>
                <a:sym typeface="Space Grotesk"/>
              </a:rPr>
              <a:t>02:14 ✓✓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2293865" y="4873798"/>
            <a:ext cx="3053152" cy="2314402"/>
          </a:xfrm>
          <a:custGeom>
            <a:avLst/>
            <a:gdLst/>
            <a:ahLst/>
            <a:cxnLst/>
            <a:rect l="l" t="t" r="r" b="b"/>
            <a:pathLst>
              <a:path w="3053152" h="2205511" extrusionOk="0">
                <a:moveTo>
                  <a:pt x="38100" y="0"/>
                </a:moveTo>
                <a:lnTo>
                  <a:pt x="2919802" y="0"/>
                </a:lnTo>
                <a:cubicBezTo>
                  <a:pt x="2955169" y="0"/>
                  <a:pt x="2989087" y="14049"/>
                  <a:pt x="3014095" y="39057"/>
                </a:cubicBezTo>
                <a:cubicBezTo>
                  <a:pt x="3039103" y="64065"/>
                  <a:pt x="3053152" y="97983"/>
                  <a:pt x="3053152" y="133350"/>
                </a:cubicBezTo>
                <a:lnTo>
                  <a:pt x="3053152" y="2072161"/>
                </a:lnTo>
                <a:cubicBezTo>
                  <a:pt x="3053152" y="2145808"/>
                  <a:pt x="2993449" y="2205511"/>
                  <a:pt x="2919802" y="2205511"/>
                </a:cubicBezTo>
                <a:lnTo>
                  <a:pt x="133350" y="2205511"/>
                </a:lnTo>
                <a:cubicBezTo>
                  <a:pt x="59703" y="2205511"/>
                  <a:pt x="0" y="2145808"/>
                  <a:pt x="0" y="2072161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9050" dist="9525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12363726" y="5019823"/>
            <a:ext cx="2791703" cy="171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50"/>
              <a:buFont typeface="Noto Nastaliq Urdu"/>
              <a:buNone/>
            </a:pP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🔴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الرٹ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—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رنگ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فریم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۳: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وائبریشن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حد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سے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زیادہ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(۷.۲)۔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ممکنہ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بیئرنگ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خرابی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۔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اسپیئر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:  6205۔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شفٹ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سQے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پہلے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معائنہ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 </a:t>
            </a:r>
            <a:r>
              <a:rPr lang="en-US" sz="1800" b="0" i="0" u="none" strike="noStrike" cap="none" dirty="0" err="1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کریں</a:t>
            </a:r>
            <a:r>
              <a:rPr lang="en-US" sz="1800" b="0" i="0" u="none" strike="noStrike" cap="none" dirty="0">
                <a:solidFill>
                  <a:srgbClr val="1A3A5C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۔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2156122" y="6888080"/>
            <a:ext cx="2981431" cy="20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A93"/>
              </a:buClr>
              <a:buSzPts val="975"/>
              <a:buFont typeface="Space Grotesk"/>
              <a:buNone/>
            </a:pPr>
            <a:r>
              <a:rPr lang="en-US" sz="975" b="0" i="0" u="none" strike="noStrike" cap="none" dirty="0">
                <a:solidFill>
                  <a:srgbClr val="8A9A93"/>
                </a:solidFill>
                <a:latin typeface="Space Grotesk"/>
                <a:ea typeface="Space Grotesk"/>
                <a:cs typeface="Space Grotesk"/>
                <a:sym typeface="Space Grotesk"/>
              </a:rPr>
              <a:t>02:14 ✓✓</a:t>
            </a:r>
            <a:endParaRPr sz="9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"/>
          <p:cNvSpPr/>
          <p:nvPr/>
        </p:nvSpPr>
        <p:spPr>
          <a:xfrm>
            <a:off x="25042" y="1870249"/>
            <a:ext cx="18287872" cy="10286993"/>
          </a:xfrm>
          <a:prstGeom prst="rect">
            <a:avLst/>
          </a:prstGeom>
          <a:gradFill>
            <a:gsLst>
              <a:gs pos="0">
                <a:srgbClr val="5FB3C4">
                  <a:alpha val="5882"/>
                </a:srgbClr>
              </a:gs>
              <a:gs pos="100000">
                <a:srgbClr val="5FB3C4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0" name="Google Shape;280;p10"/>
          <p:cNvSpPr/>
          <p:nvPr/>
        </p:nvSpPr>
        <p:spPr>
          <a:xfrm>
            <a:off x="1047715" y="666747"/>
            <a:ext cx="7713615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· TECH STACK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047715" y="1042114"/>
            <a:ext cx="7713615" cy="60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6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Space Grotesk"/>
              <a:buNone/>
            </a:pPr>
            <a:r>
              <a:rPr lang="en-US" sz="45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Built end to end, in-house.</a:t>
            </a:r>
            <a:endParaRPr sz="4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13702949" y="1047724"/>
            <a:ext cx="3521165" cy="555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r" rtl="0">
              <a:lnSpc>
                <a:spcPct val="129323"/>
              </a:lnSpc>
              <a:spcBef>
                <a:spcPts val="0"/>
              </a:spcBef>
              <a:spcAft>
                <a:spcPts val="0"/>
              </a:spcAft>
              <a:buClr>
                <a:srgbClr val="C79A6A"/>
              </a:buClr>
              <a:buSzPts val="120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C79A6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 PLC ACCESS · NO FIREWALL CHANGE NO IT SIGN-OFF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1F10F4-22B7-C353-C89B-6B9B2998A559}"/>
              </a:ext>
            </a:extLst>
          </p:cNvPr>
          <p:cNvGrpSpPr/>
          <p:nvPr/>
        </p:nvGrpSpPr>
        <p:grpSpPr>
          <a:xfrm>
            <a:off x="998716" y="2148523"/>
            <a:ext cx="16192442" cy="782768"/>
            <a:chOff x="1024116" y="2216450"/>
            <a:chExt cx="16192442" cy="646915"/>
          </a:xfrm>
        </p:grpSpPr>
        <p:sp>
          <p:nvSpPr>
            <p:cNvPr id="284" name="Google Shape;284;p10"/>
            <p:cNvSpPr/>
            <p:nvPr/>
          </p:nvSpPr>
          <p:spPr>
            <a:xfrm>
              <a:off x="1085278" y="2216450"/>
              <a:ext cx="25042" cy="646915"/>
            </a:xfrm>
            <a:prstGeom prst="rect">
              <a:avLst/>
            </a:prstGeom>
            <a:solidFill>
              <a:srgbClr val="5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1357870" y="2398003"/>
              <a:ext cx="1977578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1650"/>
                <a:buFont typeface="JetBrains Mono"/>
                <a:buNone/>
              </a:pPr>
              <a:r>
                <a:rPr lang="en-US" sz="1650" b="0" i="0" u="none" strike="noStrike" cap="none" dirty="0">
                  <a:solidFill>
                    <a:srgbClr val="5FB3C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06 · DELIVERY</a:t>
              </a:r>
              <a:endParaRPr sz="16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2BB15C9-A548-825B-2629-31BA6042B4AC}"/>
                </a:ext>
              </a:extLst>
            </p:cNvPr>
            <p:cNvGrpSpPr/>
            <p:nvPr/>
          </p:nvGrpSpPr>
          <p:grpSpPr>
            <a:xfrm>
              <a:off x="1024116" y="2235320"/>
              <a:ext cx="16192442" cy="588105"/>
              <a:chOff x="1047715" y="1966897"/>
              <a:chExt cx="16192442" cy="588105"/>
            </a:xfrm>
          </p:grpSpPr>
          <p:sp>
            <p:nvSpPr>
              <p:cNvPr id="283" name="Google Shape;283;p10"/>
              <p:cNvSpPr/>
              <p:nvPr/>
            </p:nvSpPr>
            <p:spPr>
              <a:xfrm>
                <a:off x="1047715" y="1966897"/>
                <a:ext cx="16192442" cy="588105"/>
              </a:xfrm>
              <a:custGeom>
                <a:avLst/>
                <a:gdLst/>
                <a:ahLst/>
                <a:cxnLst/>
                <a:rect l="l" t="t" r="r" b="b"/>
                <a:pathLst>
                  <a:path w="16192442" h="646915" extrusionOk="0">
                    <a:moveTo>
                      <a:pt x="0" y="0"/>
                    </a:moveTo>
                    <a:lnTo>
                      <a:pt x="16078142" y="0"/>
                    </a:lnTo>
                    <a:cubicBezTo>
                      <a:pt x="16108456" y="0"/>
                      <a:pt x="16137529" y="12042"/>
                      <a:pt x="16158964" y="33478"/>
                    </a:cubicBezTo>
                    <a:cubicBezTo>
                      <a:pt x="16180400" y="54913"/>
                      <a:pt x="16192442" y="83986"/>
                      <a:pt x="16192442" y="114300"/>
                    </a:cubicBezTo>
                    <a:lnTo>
                      <a:pt x="16192442" y="532615"/>
                    </a:lnTo>
                    <a:cubicBezTo>
                      <a:pt x="16192442" y="595741"/>
                      <a:pt x="16141268" y="646915"/>
                      <a:pt x="16078142" y="646915"/>
                    </a:cubicBezTo>
                    <a:lnTo>
                      <a:pt x="0" y="6469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F4F7">
                  <a:alpha val="392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94D3DCA-8847-01DF-DF40-3171C5C358E8}"/>
                  </a:ext>
                </a:extLst>
              </p:cNvPr>
              <p:cNvGrpSpPr/>
              <p:nvPr/>
            </p:nvGrpSpPr>
            <p:grpSpPr>
              <a:xfrm>
                <a:off x="3606597" y="2100363"/>
                <a:ext cx="13231099" cy="380339"/>
                <a:chOff x="3606597" y="2100363"/>
                <a:chExt cx="13231099" cy="380339"/>
              </a:xfrm>
            </p:grpSpPr>
            <p:sp>
              <p:nvSpPr>
                <p:cNvPr id="286" name="Google Shape;286;p10"/>
                <p:cNvSpPr/>
                <p:nvPr/>
              </p:nvSpPr>
              <p:spPr>
                <a:xfrm>
                  <a:off x="3606597" y="2100363"/>
                  <a:ext cx="4026173" cy="3803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25400" tIns="25400" rIns="25400" bIns="254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950"/>
                    <a:buFont typeface="Space Grotesk"/>
                    <a:buNone/>
                  </a:pPr>
                  <a:r>
                    <a:rPr lang="en-US" sz="1950" b="1" i="0" u="none" strike="noStrike" cap="none" dirty="0">
                      <a:solidFill>
                        <a:srgbClr val="FFFFFF"/>
                      </a:solidFill>
                      <a:latin typeface="Space Grotesk"/>
                      <a:ea typeface="Space Grotesk"/>
                      <a:cs typeface="Space Grotesk"/>
                      <a:sym typeface="Space Grotesk"/>
                    </a:rPr>
                    <a:t>AI alert composer → WhatsApp</a:t>
                  </a:r>
                  <a:endParaRPr sz="195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10"/>
                <p:cNvSpPr/>
                <p:nvPr/>
              </p:nvSpPr>
              <p:spPr>
                <a:xfrm>
                  <a:off x="9120337" y="2119436"/>
                  <a:ext cx="7717359" cy="3209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25400" tIns="25400" rIns="25400" bIns="254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590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B9CAD6"/>
                    </a:buClr>
                    <a:buSzPts val="1650"/>
                    <a:buFont typeface="Space Grotesk"/>
                    <a:buNone/>
                  </a:pPr>
                  <a:r>
                    <a:rPr lang="en-US" sz="1800" b="0" i="0" u="none" strike="noStrike" cap="none" dirty="0">
                      <a:solidFill>
                        <a:srgbClr val="B9CAD6"/>
                      </a:solidFill>
                      <a:latin typeface="Space Grotesk"/>
                      <a:ea typeface="Space Grotesk"/>
                      <a:cs typeface="Space Grotesk"/>
                      <a:sym typeface="Space Grotesk"/>
                    </a:rPr>
                    <a:t>Role-routed. The operator reads Urdu on the phone in his hand.</a:t>
                  </a: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47DE87-4620-B764-3086-85E4A5320B68}"/>
              </a:ext>
            </a:extLst>
          </p:cNvPr>
          <p:cNvGrpSpPr/>
          <p:nvPr/>
        </p:nvGrpSpPr>
        <p:grpSpPr>
          <a:xfrm>
            <a:off x="1059878" y="3099966"/>
            <a:ext cx="16192442" cy="769156"/>
            <a:chOff x="1060236" y="3167396"/>
            <a:chExt cx="16192442" cy="635666"/>
          </a:xfrm>
        </p:grpSpPr>
        <p:sp>
          <p:nvSpPr>
            <p:cNvPr id="289" name="Google Shape;289;p10"/>
            <p:cNvSpPr/>
            <p:nvPr/>
          </p:nvSpPr>
          <p:spPr>
            <a:xfrm>
              <a:off x="1060236" y="3167396"/>
              <a:ext cx="25042" cy="621873"/>
            </a:xfrm>
            <a:prstGeom prst="rect">
              <a:avLst/>
            </a:prstGeom>
            <a:solidFill>
              <a:srgbClr val="5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98FB6D9-327B-A27C-1B8B-DFCA2D15D7BC}"/>
                </a:ext>
              </a:extLst>
            </p:cNvPr>
            <p:cNvGrpSpPr/>
            <p:nvPr/>
          </p:nvGrpSpPr>
          <p:grpSpPr>
            <a:xfrm>
              <a:off x="1060236" y="3181189"/>
              <a:ext cx="16192442" cy="621873"/>
              <a:chOff x="1047715" y="2660576"/>
              <a:chExt cx="16192442" cy="621873"/>
            </a:xfrm>
          </p:grpSpPr>
          <p:sp>
            <p:nvSpPr>
              <p:cNvPr id="288" name="Google Shape;288;p10"/>
              <p:cNvSpPr/>
              <p:nvPr/>
            </p:nvSpPr>
            <p:spPr>
              <a:xfrm>
                <a:off x="1047715" y="2660576"/>
                <a:ext cx="16192442" cy="621873"/>
              </a:xfrm>
              <a:custGeom>
                <a:avLst/>
                <a:gdLst/>
                <a:ahLst/>
                <a:cxnLst/>
                <a:rect l="l" t="t" r="r" b="b"/>
                <a:pathLst>
                  <a:path w="16192442" h="621873" extrusionOk="0">
                    <a:moveTo>
                      <a:pt x="0" y="0"/>
                    </a:moveTo>
                    <a:lnTo>
                      <a:pt x="16078142" y="0"/>
                    </a:lnTo>
                    <a:cubicBezTo>
                      <a:pt x="16108456" y="0"/>
                      <a:pt x="16137529" y="12042"/>
                      <a:pt x="16158964" y="33478"/>
                    </a:cubicBezTo>
                    <a:cubicBezTo>
                      <a:pt x="16180400" y="54913"/>
                      <a:pt x="16192442" y="83986"/>
                      <a:pt x="16192442" y="114300"/>
                    </a:cubicBezTo>
                    <a:lnTo>
                      <a:pt x="16192442" y="507573"/>
                    </a:lnTo>
                    <a:cubicBezTo>
                      <a:pt x="16192442" y="570699"/>
                      <a:pt x="16141268" y="621873"/>
                      <a:pt x="16078142" y="621873"/>
                    </a:cubicBezTo>
                    <a:lnTo>
                      <a:pt x="0" y="6218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F4F7">
                  <a:alpha val="392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0"/>
              <p:cNvSpPr/>
              <p:nvPr/>
            </p:nvSpPr>
            <p:spPr>
              <a:xfrm>
                <a:off x="1320307" y="2829608"/>
                <a:ext cx="2129655" cy="321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5FB3C4"/>
                  </a:buClr>
                  <a:buSzPts val="1650"/>
                  <a:buFont typeface="JetBrains Mono"/>
                  <a:buNone/>
                </a:pPr>
                <a:r>
                  <a:rPr lang="en-US" sz="1650" b="0" i="0" u="none" strike="noStrike" cap="none">
                    <a:solidFill>
                      <a:srgbClr val="5FB3C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05 · DETECTION</a:t>
                </a:r>
                <a:endParaRPr sz="16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0"/>
              <p:cNvSpPr/>
              <p:nvPr/>
            </p:nvSpPr>
            <p:spPr>
              <a:xfrm>
                <a:off x="3503906" y="2812914"/>
                <a:ext cx="4268205" cy="355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950"/>
                  <a:buFont typeface="Space Grotesk"/>
                  <a:buNone/>
                </a:pPr>
                <a:r>
                  <a:rPr lang="en-US" sz="1950" b="1" i="0" u="none" strike="noStrike" cap="none" dirty="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Rules engine vs ISO 20816 + OEM</a:t>
                </a:r>
                <a:endParaRPr sz="19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0"/>
              <p:cNvSpPr/>
              <p:nvPr/>
            </p:nvSpPr>
            <p:spPr>
              <a:xfrm>
                <a:off x="9082774" y="2859815"/>
                <a:ext cx="5117972" cy="320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lnSpc>
                    <a:spcPct val="10590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9CAD6"/>
                  </a:buClr>
                  <a:buSzPts val="1650"/>
                  <a:buFont typeface="Space Grotesk"/>
                  <a:buNone/>
                </a:pPr>
                <a:r>
                  <a:rPr lang="en-US" sz="1800" b="0" i="0" u="none" strike="noStrike" cap="none" dirty="0">
                    <a:solidFill>
                      <a:srgbClr val="B9CAD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Deterministic — an alert is never invented.</a:t>
                </a: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3A8AB6-3D17-15A5-5872-1F875486910E}"/>
              </a:ext>
            </a:extLst>
          </p:cNvPr>
          <p:cNvGrpSpPr/>
          <p:nvPr/>
        </p:nvGrpSpPr>
        <p:grpSpPr>
          <a:xfrm>
            <a:off x="1047357" y="4089507"/>
            <a:ext cx="16192442" cy="752467"/>
            <a:chOff x="1024116" y="4133525"/>
            <a:chExt cx="16192442" cy="621874"/>
          </a:xfrm>
        </p:grpSpPr>
        <p:sp>
          <p:nvSpPr>
            <p:cNvPr id="294" name="Google Shape;294;p10"/>
            <p:cNvSpPr/>
            <p:nvPr/>
          </p:nvSpPr>
          <p:spPr>
            <a:xfrm>
              <a:off x="1047715" y="4133525"/>
              <a:ext cx="25042" cy="621873"/>
            </a:xfrm>
            <a:prstGeom prst="rect">
              <a:avLst/>
            </a:prstGeom>
            <a:solidFill>
              <a:srgbClr val="C79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4D7742C-0EC6-C005-72A2-F984DEF89227}"/>
                </a:ext>
              </a:extLst>
            </p:cNvPr>
            <p:cNvGrpSpPr/>
            <p:nvPr/>
          </p:nvGrpSpPr>
          <p:grpSpPr>
            <a:xfrm>
              <a:off x="1024116" y="4133526"/>
              <a:ext cx="16192442" cy="621873"/>
              <a:chOff x="1047715" y="3358618"/>
              <a:chExt cx="16192442" cy="621873"/>
            </a:xfrm>
          </p:grpSpPr>
          <p:sp>
            <p:nvSpPr>
              <p:cNvPr id="293" name="Google Shape;293;p10"/>
              <p:cNvSpPr/>
              <p:nvPr/>
            </p:nvSpPr>
            <p:spPr>
              <a:xfrm>
                <a:off x="1047715" y="3358618"/>
                <a:ext cx="16192442" cy="621873"/>
              </a:xfrm>
              <a:custGeom>
                <a:avLst/>
                <a:gdLst/>
                <a:ahLst/>
                <a:cxnLst/>
                <a:rect l="l" t="t" r="r" b="b"/>
                <a:pathLst>
                  <a:path w="16192442" h="621873" extrusionOk="0">
                    <a:moveTo>
                      <a:pt x="0" y="0"/>
                    </a:moveTo>
                    <a:lnTo>
                      <a:pt x="16078142" y="0"/>
                    </a:lnTo>
                    <a:cubicBezTo>
                      <a:pt x="16108456" y="0"/>
                      <a:pt x="16137529" y="12042"/>
                      <a:pt x="16158964" y="33478"/>
                    </a:cubicBezTo>
                    <a:cubicBezTo>
                      <a:pt x="16180400" y="54913"/>
                      <a:pt x="16192442" y="83986"/>
                      <a:pt x="16192442" y="114300"/>
                    </a:cubicBezTo>
                    <a:lnTo>
                      <a:pt x="16192442" y="507573"/>
                    </a:lnTo>
                    <a:cubicBezTo>
                      <a:pt x="16192442" y="570699"/>
                      <a:pt x="16141268" y="621873"/>
                      <a:pt x="16078142" y="621873"/>
                    </a:cubicBezTo>
                    <a:lnTo>
                      <a:pt x="0" y="6218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F4F7">
                  <a:alpha val="392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0"/>
              <p:cNvSpPr/>
              <p:nvPr/>
            </p:nvSpPr>
            <p:spPr>
              <a:xfrm>
                <a:off x="1320307" y="3527651"/>
                <a:ext cx="1825357" cy="321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C79A6A"/>
                  </a:buClr>
                  <a:buSzPts val="1650"/>
                  <a:buFont typeface="JetBrains Mono"/>
                  <a:buNone/>
                </a:pPr>
                <a:r>
                  <a:rPr lang="en-US" sz="1650" b="0" i="0" u="none" strike="noStrike" cap="none" dirty="0">
                    <a:solidFill>
                      <a:srgbClr val="C79A6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04 · STORAGE</a:t>
                </a:r>
                <a:endParaRPr sz="16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0"/>
              <p:cNvSpPr/>
              <p:nvPr/>
            </p:nvSpPr>
            <p:spPr>
              <a:xfrm>
                <a:off x="3484971" y="3498625"/>
                <a:ext cx="3930335" cy="355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950"/>
                  <a:buFont typeface="Space Grotesk"/>
                  <a:buNone/>
                </a:pPr>
                <a:r>
                  <a:rPr lang="en-US" sz="1950" b="1" i="0" u="none" strike="noStrike" cap="none" dirty="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Time-series + document store</a:t>
                </a:r>
                <a:endParaRPr sz="19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0"/>
              <p:cNvSpPr/>
              <p:nvPr/>
            </p:nvSpPr>
            <p:spPr>
              <a:xfrm>
                <a:off x="9071696" y="3539111"/>
                <a:ext cx="6190174" cy="320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lnSpc>
                    <a:spcPct val="10590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9CAD6"/>
                  </a:buClr>
                  <a:buSzPts val="1650"/>
                  <a:buFont typeface="Space Grotesk"/>
                  <a:buNone/>
                </a:pPr>
                <a:r>
                  <a:rPr lang="en-US" sz="1800" b="0" i="0" u="none" strike="noStrike" cap="none" dirty="0">
                    <a:solidFill>
                      <a:srgbClr val="B9CAD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Readings and asset records have different shapes.</a:t>
                </a: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ED08DA-06DD-0524-0C55-F8634D3284E8}"/>
              </a:ext>
            </a:extLst>
          </p:cNvPr>
          <p:cNvGrpSpPr/>
          <p:nvPr/>
        </p:nvGrpSpPr>
        <p:grpSpPr>
          <a:xfrm>
            <a:off x="1059878" y="5102002"/>
            <a:ext cx="16192442" cy="752467"/>
            <a:chOff x="1072757" y="5213264"/>
            <a:chExt cx="16192442" cy="621874"/>
          </a:xfrm>
        </p:grpSpPr>
        <p:sp>
          <p:nvSpPr>
            <p:cNvPr id="299" name="Google Shape;299;p10"/>
            <p:cNvSpPr/>
            <p:nvPr/>
          </p:nvSpPr>
          <p:spPr>
            <a:xfrm>
              <a:off x="1072757" y="5213264"/>
              <a:ext cx="25042" cy="621873"/>
            </a:xfrm>
            <a:prstGeom prst="rect">
              <a:avLst/>
            </a:prstGeom>
            <a:solidFill>
              <a:srgbClr val="C79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82AC105-EAF1-0B7F-F059-35CA8454514C}"/>
                </a:ext>
              </a:extLst>
            </p:cNvPr>
            <p:cNvGrpSpPr/>
            <p:nvPr/>
          </p:nvGrpSpPr>
          <p:grpSpPr>
            <a:xfrm>
              <a:off x="1072757" y="5213265"/>
              <a:ext cx="16192442" cy="621873"/>
              <a:chOff x="1047715" y="4056660"/>
              <a:chExt cx="16192442" cy="621873"/>
            </a:xfrm>
          </p:grpSpPr>
          <p:sp>
            <p:nvSpPr>
              <p:cNvPr id="298" name="Google Shape;298;p10"/>
              <p:cNvSpPr/>
              <p:nvPr/>
            </p:nvSpPr>
            <p:spPr>
              <a:xfrm>
                <a:off x="1047715" y="4056660"/>
                <a:ext cx="16192442" cy="621873"/>
              </a:xfrm>
              <a:custGeom>
                <a:avLst/>
                <a:gdLst/>
                <a:ahLst/>
                <a:cxnLst/>
                <a:rect l="l" t="t" r="r" b="b"/>
                <a:pathLst>
                  <a:path w="16192442" h="621873" extrusionOk="0">
                    <a:moveTo>
                      <a:pt x="0" y="0"/>
                    </a:moveTo>
                    <a:lnTo>
                      <a:pt x="16078142" y="0"/>
                    </a:lnTo>
                    <a:cubicBezTo>
                      <a:pt x="16108456" y="0"/>
                      <a:pt x="16137529" y="12042"/>
                      <a:pt x="16158964" y="33478"/>
                    </a:cubicBezTo>
                    <a:cubicBezTo>
                      <a:pt x="16180400" y="54913"/>
                      <a:pt x="16192442" y="83986"/>
                      <a:pt x="16192442" y="114300"/>
                    </a:cubicBezTo>
                    <a:lnTo>
                      <a:pt x="16192442" y="507573"/>
                    </a:lnTo>
                    <a:cubicBezTo>
                      <a:pt x="16192442" y="570699"/>
                      <a:pt x="16141268" y="621873"/>
                      <a:pt x="16078142" y="621873"/>
                    </a:cubicBezTo>
                    <a:lnTo>
                      <a:pt x="0" y="6218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F4F7">
                  <a:alpha val="392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0"/>
              <p:cNvSpPr/>
              <p:nvPr/>
            </p:nvSpPr>
            <p:spPr>
              <a:xfrm>
                <a:off x="1320307" y="4225693"/>
                <a:ext cx="2129655" cy="321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C79A6A"/>
                  </a:buClr>
                  <a:buSzPts val="1650"/>
                  <a:buFont typeface="JetBrains Mono"/>
                  <a:buNone/>
                </a:pPr>
                <a:r>
                  <a:rPr lang="en-US" sz="1650" b="0" i="0" u="none" strike="noStrike" cap="none">
                    <a:solidFill>
                      <a:srgbClr val="C79A6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03 · INGESTION</a:t>
                </a:r>
                <a:endParaRPr sz="16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0"/>
              <p:cNvSpPr/>
              <p:nvPr/>
            </p:nvSpPr>
            <p:spPr>
              <a:xfrm>
                <a:off x="3503906" y="4208998"/>
                <a:ext cx="3562337" cy="355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950"/>
                  <a:buFont typeface="Space Grotesk"/>
                  <a:buNone/>
                </a:pPr>
                <a:r>
                  <a:rPr lang="en-US" sz="1950" b="1" i="0" u="none" strike="noStrike" cap="none" dirty="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Single API service</a:t>
                </a:r>
                <a:endParaRPr sz="19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9082774" y="4236068"/>
                <a:ext cx="5929146" cy="320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lnSpc>
                    <a:spcPct val="10590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9CAD6"/>
                  </a:buClr>
                  <a:buSzPts val="1650"/>
                  <a:buFont typeface="Space Grotesk"/>
                  <a:buNone/>
                </a:pPr>
                <a:r>
                  <a:rPr lang="en-US" sz="1800" b="0" i="0" u="none" strike="noStrike" cap="none" dirty="0">
                    <a:solidFill>
                      <a:srgbClr val="B9CAD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One entry point — validates, timestamps, routes.</a:t>
                </a: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3C95DDC-EF97-31DA-CC6B-F762DE8754F9}"/>
              </a:ext>
            </a:extLst>
          </p:cNvPr>
          <p:cNvGrpSpPr/>
          <p:nvPr/>
        </p:nvGrpSpPr>
        <p:grpSpPr>
          <a:xfrm>
            <a:off x="1028422" y="6146740"/>
            <a:ext cx="16192442" cy="774382"/>
            <a:chOff x="1047715" y="6368318"/>
            <a:chExt cx="16192442" cy="639985"/>
          </a:xfrm>
        </p:grpSpPr>
        <p:sp>
          <p:nvSpPr>
            <p:cNvPr id="304" name="Google Shape;304;p10"/>
            <p:cNvSpPr/>
            <p:nvPr/>
          </p:nvSpPr>
          <p:spPr>
            <a:xfrm>
              <a:off x="1072757" y="6386430"/>
              <a:ext cx="25042" cy="621873"/>
            </a:xfrm>
            <a:prstGeom prst="rect">
              <a:avLst/>
            </a:prstGeom>
            <a:solidFill>
              <a:srgbClr val="9C8E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692459B-B8E8-4AE2-3091-3E3680DE5984}"/>
                </a:ext>
              </a:extLst>
            </p:cNvPr>
            <p:cNvGrpSpPr/>
            <p:nvPr/>
          </p:nvGrpSpPr>
          <p:grpSpPr>
            <a:xfrm>
              <a:off x="1047715" y="6368318"/>
              <a:ext cx="16192442" cy="621873"/>
              <a:chOff x="1047715" y="4754703"/>
              <a:chExt cx="16192442" cy="621873"/>
            </a:xfrm>
          </p:grpSpPr>
          <p:sp>
            <p:nvSpPr>
              <p:cNvPr id="303" name="Google Shape;303;p10"/>
              <p:cNvSpPr/>
              <p:nvPr/>
            </p:nvSpPr>
            <p:spPr>
              <a:xfrm>
                <a:off x="1047715" y="4754703"/>
                <a:ext cx="16192442" cy="621873"/>
              </a:xfrm>
              <a:custGeom>
                <a:avLst/>
                <a:gdLst/>
                <a:ahLst/>
                <a:cxnLst/>
                <a:rect l="l" t="t" r="r" b="b"/>
                <a:pathLst>
                  <a:path w="16192442" h="621873" extrusionOk="0">
                    <a:moveTo>
                      <a:pt x="0" y="0"/>
                    </a:moveTo>
                    <a:lnTo>
                      <a:pt x="16078142" y="0"/>
                    </a:lnTo>
                    <a:cubicBezTo>
                      <a:pt x="16108456" y="0"/>
                      <a:pt x="16137529" y="12042"/>
                      <a:pt x="16158964" y="33478"/>
                    </a:cubicBezTo>
                    <a:cubicBezTo>
                      <a:pt x="16180400" y="54913"/>
                      <a:pt x="16192442" y="83986"/>
                      <a:pt x="16192442" y="114300"/>
                    </a:cubicBezTo>
                    <a:lnTo>
                      <a:pt x="16192442" y="507573"/>
                    </a:lnTo>
                    <a:cubicBezTo>
                      <a:pt x="16192442" y="570699"/>
                      <a:pt x="16141268" y="621873"/>
                      <a:pt x="16078142" y="621873"/>
                    </a:cubicBezTo>
                    <a:lnTo>
                      <a:pt x="0" y="6218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F4F7">
                  <a:alpha val="392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" name="Google Shape;305;p10"/>
              <p:cNvSpPr/>
              <p:nvPr/>
            </p:nvSpPr>
            <p:spPr>
              <a:xfrm>
                <a:off x="1320307" y="4923735"/>
                <a:ext cx="2129655" cy="321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9C8E75"/>
                  </a:buClr>
                  <a:buSzPts val="1650"/>
                  <a:buFont typeface="JetBrains Mono"/>
                  <a:buNone/>
                </a:pPr>
                <a:r>
                  <a:rPr lang="en-US" sz="1650" b="0" i="0" u="none" strike="noStrike" cap="none">
                    <a:solidFill>
                      <a:srgbClr val="9C8E75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02 · TRANSPORT</a:t>
                </a:r>
                <a:endParaRPr sz="16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0"/>
              <p:cNvSpPr/>
              <p:nvPr/>
            </p:nvSpPr>
            <p:spPr>
              <a:xfrm>
                <a:off x="3503906" y="4907041"/>
                <a:ext cx="3855444" cy="355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950"/>
                  <a:buFont typeface="Space Grotesk"/>
                  <a:buNone/>
                </a:pPr>
                <a:r>
                  <a:rPr lang="en-US" sz="1950" b="1" i="0" u="none" strike="noStrike" cap="none" dirty="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MQTT over existing plant </a:t>
                </a:r>
                <a:r>
                  <a:rPr lang="en-US" sz="1950" b="1" i="0" u="none" strike="noStrike" cap="none" dirty="0" err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WiFi</a:t>
                </a:r>
                <a:endParaRPr sz="19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0"/>
              <p:cNvSpPr/>
              <p:nvPr/>
            </p:nvSpPr>
            <p:spPr>
              <a:xfrm>
                <a:off x="9090631" y="4932116"/>
                <a:ext cx="5744660" cy="320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lnSpc>
                    <a:spcPct val="10590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9CAD6"/>
                  </a:buClr>
                  <a:buSzPts val="1650"/>
                  <a:buFont typeface="Space Grotesk"/>
                  <a:buNone/>
                </a:pPr>
                <a:r>
                  <a:rPr lang="en-US" sz="1800" b="0" i="0" u="none" strike="noStrike" cap="none" dirty="0">
                    <a:solidFill>
                      <a:srgbClr val="B9CAD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Industrial standard for low-bandwidth devices.</a:t>
                </a: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3627785-212C-64EF-72E5-354240AFEE51}"/>
              </a:ext>
            </a:extLst>
          </p:cNvPr>
          <p:cNvGrpSpPr/>
          <p:nvPr/>
        </p:nvGrpSpPr>
        <p:grpSpPr>
          <a:xfrm>
            <a:off x="1028422" y="7175435"/>
            <a:ext cx="16192442" cy="752466"/>
            <a:chOff x="1290601" y="6203747"/>
            <a:chExt cx="16192442" cy="621873"/>
          </a:xfrm>
        </p:grpSpPr>
        <p:sp>
          <p:nvSpPr>
            <p:cNvPr id="309" name="Google Shape;309;p10"/>
            <p:cNvSpPr/>
            <p:nvPr/>
          </p:nvSpPr>
          <p:spPr>
            <a:xfrm>
              <a:off x="1320307" y="6203747"/>
              <a:ext cx="25042" cy="621873"/>
            </a:xfrm>
            <a:prstGeom prst="rect">
              <a:avLst/>
            </a:prstGeom>
            <a:solidFill>
              <a:srgbClr val="9C8E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8FC06DD-BF96-AC30-F548-C8F527166C77}"/>
                </a:ext>
              </a:extLst>
            </p:cNvPr>
            <p:cNvGrpSpPr/>
            <p:nvPr/>
          </p:nvGrpSpPr>
          <p:grpSpPr>
            <a:xfrm>
              <a:off x="1290601" y="6203747"/>
              <a:ext cx="16192442" cy="621873"/>
              <a:chOff x="1047715" y="5452745"/>
              <a:chExt cx="16192442" cy="621873"/>
            </a:xfrm>
          </p:grpSpPr>
          <p:sp>
            <p:nvSpPr>
              <p:cNvPr id="308" name="Google Shape;308;p10"/>
              <p:cNvSpPr/>
              <p:nvPr/>
            </p:nvSpPr>
            <p:spPr>
              <a:xfrm>
                <a:off x="1047715" y="5452745"/>
                <a:ext cx="16192442" cy="621873"/>
              </a:xfrm>
              <a:custGeom>
                <a:avLst/>
                <a:gdLst/>
                <a:ahLst/>
                <a:cxnLst/>
                <a:rect l="l" t="t" r="r" b="b"/>
                <a:pathLst>
                  <a:path w="16192442" h="621873" extrusionOk="0">
                    <a:moveTo>
                      <a:pt x="0" y="0"/>
                    </a:moveTo>
                    <a:lnTo>
                      <a:pt x="16078142" y="0"/>
                    </a:lnTo>
                    <a:cubicBezTo>
                      <a:pt x="16108456" y="0"/>
                      <a:pt x="16137529" y="12042"/>
                      <a:pt x="16158964" y="33478"/>
                    </a:cubicBezTo>
                    <a:cubicBezTo>
                      <a:pt x="16180400" y="54913"/>
                      <a:pt x="16192442" y="83986"/>
                      <a:pt x="16192442" y="114300"/>
                    </a:cubicBezTo>
                    <a:lnTo>
                      <a:pt x="16192442" y="507573"/>
                    </a:lnTo>
                    <a:cubicBezTo>
                      <a:pt x="16192442" y="570699"/>
                      <a:pt x="16141268" y="621873"/>
                      <a:pt x="16078142" y="621873"/>
                    </a:cubicBezTo>
                    <a:lnTo>
                      <a:pt x="0" y="6218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F4F7">
                  <a:alpha val="392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" name="Google Shape;310;p10"/>
              <p:cNvSpPr/>
              <p:nvPr/>
            </p:nvSpPr>
            <p:spPr>
              <a:xfrm>
                <a:off x="1320307" y="5621777"/>
                <a:ext cx="1825357" cy="321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9C8E75"/>
                  </a:buClr>
                  <a:buSzPts val="1650"/>
                  <a:buFont typeface="JetBrains Mono"/>
                  <a:buNone/>
                </a:pPr>
                <a:r>
                  <a:rPr lang="en-US" sz="1650" b="0" i="0" u="none" strike="noStrike" cap="none" dirty="0">
                    <a:solidFill>
                      <a:srgbClr val="9C8E75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01 · SENSING</a:t>
                </a:r>
                <a:endParaRPr sz="16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0"/>
              <p:cNvSpPr/>
              <p:nvPr/>
            </p:nvSpPr>
            <p:spPr>
              <a:xfrm>
                <a:off x="3503906" y="5613049"/>
                <a:ext cx="4132196" cy="355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950"/>
                  <a:buFont typeface="Space Grotesk"/>
                  <a:buNone/>
                </a:pPr>
                <a:r>
                  <a:rPr lang="en-US" sz="1950" b="1" i="0" u="none" strike="noStrike" cap="none" dirty="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ESP32 · vibration + temperature</a:t>
                </a:r>
                <a:endParaRPr sz="195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0"/>
              <p:cNvSpPr/>
              <p:nvPr/>
            </p:nvSpPr>
            <p:spPr>
              <a:xfrm>
                <a:off x="9113120" y="5627724"/>
                <a:ext cx="6145196" cy="320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lnSpc>
                    <a:spcPct val="10590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9CAD6"/>
                  </a:buClr>
                  <a:buSzPts val="1650"/>
                  <a:buFont typeface="Space Grotesk"/>
                  <a:buNone/>
                </a:pPr>
                <a:r>
                  <a:rPr lang="en-US" sz="1800" b="0" i="0" u="none" strike="noStrike" cap="none" dirty="0">
                    <a:solidFill>
                      <a:srgbClr val="B9CAD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Magnetic mount. Off-the-shelf, locally </a:t>
                </a:r>
                <a:r>
                  <a:rPr lang="en-US" sz="1800" b="0" i="0" u="none" strike="noStrike" cap="none" dirty="0" err="1">
                    <a:solidFill>
                      <a:srgbClr val="B9CAD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sourceable</a:t>
                </a:r>
                <a:r>
                  <a:rPr lang="en-US" sz="1800" b="0" i="0" u="none" strike="noStrike" cap="none" dirty="0">
                    <a:solidFill>
                      <a:srgbClr val="B9CAD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.</a:t>
                </a: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3" name="Google Shape;313;p10"/>
          <p:cNvSpPr/>
          <p:nvPr/>
        </p:nvSpPr>
        <p:spPr>
          <a:xfrm>
            <a:off x="1047715" y="9221156"/>
            <a:ext cx="16192442" cy="9525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1047715" y="9420003"/>
            <a:ext cx="16678215" cy="238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20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CONTAINERISED · CI/CD ON EVERY COMMIT · SINGLE-COMMAND DEPLOYMENT TO A NEW SITE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1A3A5C">
                  <a:alpha val="5098"/>
                </a:srgbClr>
              </a:gs>
              <a:gs pos="100000">
                <a:srgbClr val="1A3A5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1047715" y="761951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· ROADMAP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1047715" y="1701789"/>
            <a:ext cx="17811686" cy="64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527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800"/>
              <a:buFont typeface="Space Grotesk"/>
              <a:buNone/>
            </a:pPr>
            <a:r>
              <a:rPr lang="en-US" sz="4800" b="1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Four phases, each gated on a condition — not a date.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C9E824-D535-2980-1C8D-5090D3F91D4A}"/>
              </a:ext>
            </a:extLst>
          </p:cNvPr>
          <p:cNvGrpSpPr/>
          <p:nvPr/>
        </p:nvGrpSpPr>
        <p:grpSpPr>
          <a:xfrm>
            <a:off x="1086728" y="3243811"/>
            <a:ext cx="4248693" cy="2116311"/>
            <a:chOff x="1047715" y="2185034"/>
            <a:chExt cx="4248693" cy="2116311"/>
          </a:xfrm>
        </p:grpSpPr>
        <p:sp>
          <p:nvSpPr>
            <p:cNvPr id="323" name="Google Shape;323;p11"/>
            <p:cNvSpPr/>
            <p:nvPr/>
          </p:nvSpPr>
          <p:spPr>
            <a:xfrm>
              <a:off x="1047715" y="2217380"/>
              <a:ext cx="152338" cy="152338"/>
            </a:xfrm>
            <a:prstGeom prst="ellipse">
              <a:avLst/>
            </a:prstGeom>
            <a:solidFill>
              <a:srgbClr val="2A7A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1314307" y="2185034"/>
              <a:ext cx="602862" cy="1267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8B7355"/>
                </a:buClr>
                <a:buSzPts val="1275"/>
                <a:buFont typeface="JetBrains Mono"/>
                <a:buNone/>
              </a:pPr>
              <a:r>
                <a:rPr lang="en-US" sz="1600" b="0" i="0" u="none" strike="noStrike" cap="none" dirty="0">
                  <a:solidFill>
                    <a:srgbClr val="8B73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NOW</a:t>
              </a: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1047715" y="2554402"/>
              <a:ext cx="3862448" cy="28563"/>
            </a:xfrm>
            <a:prstGeom prst="roundRect">
              <a:avLst>
                <a:gd name="adj" fmla="val 50001"/>
              </a:avLst>
            </a:prstGeom>
            <a:solidFill>
              <a:srgbClr val="2A7A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1047715" y="2735303"/>
              <a:ext cx="4248693" cy="405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3A5C"/>
                </a:buClr>
                <a:buSzPts val="2250"/>
                <a:buFont typeface="Space Grotesk"/>
                <a:buNone/>
              </a:pPr>
              <a:r>
                <a:rPr lang="en-US" sz="2400" b="1" i="0" u="none" strike="noStrike" cap="none" dirty="0">
                  <a:solidFill>
                    <a:srgbClr val="1A3A5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P1 · Field-ready</a:t>
              </a:r>
              <a:endParaRPr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1047715" y="3383258"/>
              <a:ext cx="3978322" cy="918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983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515F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40515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Bench MVP to first install at HSK Bone Care. Device auth, secured broker, per-site isolation.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ED16225-E46C-0434-3EDA-214D522BFA65}"/>
              </a:ext>
            </a:extLst>
          </p:cNvPr>
          <p:cNvGrpSpPr/>
          <p:nvPr/>
        </p:nvGrpSpPr>
        <p:grpSpPr>
          <a:xfrm>
            <a:off x="854593" y="7283505"/>
            <a:ext cx="4248693" cy="1312714"/>
            <a:chOff x="1047715" y="8440155"/>
            <a:chExt cx="3862448" cy="1084887"/>
          </a:xfrm>
        </p:grpSpPr>
        <p:sp>
          <p:nvSpPr>
            <p:cNvPr id="328" name="Google Shape;328;p11"/>
            <p:cNvSpPr/>
            <p:nvPr/>
          </p:nvSpPr>
          <p:spPr>
            <a:xfrm>
              <a:off x="1047715" y="8440155"/>
              <a:ext cx="3862448" cy="1084887"/>
            </a:xfrm>
            <a:prstGeom prst="roundRect">
              <a:avLst>
                <a:gd name="adj" fmla="val 10536"/>
              </a:avLst>
            </a:prstGeom>
            <a:solidFill>
              <a:srgbClr val="FFFFFF"/>
            </a:solidFill>
            <a:ln w="9525" cap="flat" cmpd="sng">
              <a:solidFill>
                <a:srgbClr val="E3DCC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1227443" y="8617535"/>
              <a:ext cx="438916" cy="2133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A7A8A"/>
                </a:buClr>
                <a:buSzPts val="1050"/>
                <a:buFont typeface="JetBrains Mono"/>
                <a:buNone/>
              </a:pPr>
              <a:r>
                <a:rPr lang="en-US" b="0" i="0" u="none" strike="noStrike" cap="none" dirty="0">
                  <a:solidFill>
                    <a:srgbClr val="2A7A8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GATE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1227443" y="8849955"/>
              <a:ext cx="3608083" cy="5525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6239"/>
                </a:lnSpc>
                <a:spcBef>
                  <a:spcPts val="0"/>
                </a:spcBef>
                <a:spcAft>
                  <a:spcPts val="0"/>
                </a:spcAft>
                <a:buClr>
                  <a:srgbClr val="1A3A5C"/>
                </a:buClr>
                <a:buSzPts val="1500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1A3A5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First site producing continuous field data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5E79ECF-B2AA-AA1E-AF02-B89716BF36E3}"/>
              </a:ext>
            </a:extLst>
          </p:cNvPr>
          <p:cNvGrpSpPr/>
          <p:nvPr/>
        </p:nvGrpSpPr>
        <p:grpSpPr>
          <a:xfrm>
            <a:off x="5196726" y="3220725"/>
            <a:ext cx="4248693" cy="2139397"/>
            <a:chOff x="5157713" y="2161948"/>
            <a:chExt cx="4248693" cy="2139397"/>
          </a:xfrm>
        </p:grpSpPr>
        <p:sp>
          <p:nvSpPr>
            <p:cNvPr id="331" name="Google Shape;331;p11"/>
            <p:cNvSpPr/>
            <p:nvPr/>
          </p:nvSpPr>
          <p:spPr>
            <a:xfrm>
              <a:off x="5157713" y="2217380"/>
              <a:ext cx="152338" cy="152338"/>
            </a:xfrm>
            <a:prstGeom prst="ellipse">
              <a:avLst/>
            </a:prstGeom>
            <a:solidFill>
              <a:srgbClr val="3E7D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1"/>
            <p:cNvSpPr/>
            <p:nvPr/>
          </p:nvSpPr>
          <p:spPr>
            <a:xfrm>
              <a:off x="5424304" y="2161948"/>
              <a:ext cx="1008579" cy="1980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8B7355"/>
                </a:buClr>
                <a:buSzPts val="1275"/>
                <a:buFont typeface="JetBrains Mono"/>
                <a:buNone/>
              </a:pPr>
              <a:r>
                <a:rPr lang="en-US" sz="1600" b="0" i="0" u="none" strike="noStrike" cap="none" dirty="0">
                  <a:solidFill>
                    <a:srgbClr val="8B73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Q4 2026</a:t>
              </a: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1"/>
            <p:cNvSpPr/>
            <p:nvPr/>
          </p:nvSpPr>
          <p:spPr>
            <a:xfrm>
              <a:off x="5157713" y="2554402"/>
              <a:ext cx="3862448" cy="28563"/>
            </a:xfrm>
            <a:prstGeom prst="roundRect">
              <a:avLst>
                <a:gd name="adj" fmla="val 50001"/>
              </a:avLst>
            </a:prstGeom>
            <a:solidFill>
              <a:srgbClr val="3E7D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1"/>
            <p:cNvSpPr/>
            <p:nvPr/>
          </p:nvSpPr>
          <p:spPr>
            <a:xfrm>
              <a:off x="5157713" y="2735303"/>
              <a:ext cx="4248693" cy="405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3A5C"/>
                </a:buClr>
                <a:buSzPts val="2250"/>
                <a:buFont typeface="Space Grotesk"/>
                <a:buNone/>
              </a:pPr>
              <a:r>
                <a:rPr lang="en-US" sz="2400" b="1" i="0" u="none" strike="noStrike" cap="none">
                  <a:solidFill>
                    <a:srgbClr val="1A3A5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P2 · Multi-site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1"/>
            <p:cNvSpPr/>
            <p:nvPr/>
          </p:nvSpPr>
          <p:spPr>
            <a:xfrm>
              <a:off x="5157713" y="3383258"/>
              <a:ext cx="3978322" cy="918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983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515F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40515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Second and third sites. Fleet view across sites. Install playbook — not founder-dependent.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C8E31CA-6BAC-FEBF-C644-107B7B3E2DC5}"/>
              </a:ext>
            </a:extLst>
          </p:cNvPr>
          <p:cNvGrpSpPr/>
          <p:nvPr/>
        </p:nvGrpSpPr>
        <p:grpSpPr>
          <a:xfrm>
            <a:off x="5171735" y="7273363"/>
            <a:ext cx="4033020" cy="1332998"/>
            <a:chOff x="5157713" y="8697356"/>
            <a:chExt cx="4033020" cy="827686"/>
          </a:xfrm>
        </p:grpSpPr>
        <p:sp>
          <p:nvSpPr>
            <p:cNvPr id="336" name="Google Shape;336;p11"/>
            <p:cNvSpPr/>
            <p:nvPr/>
          </p:nvSpPr>
          <p:spPr>
            <a:xfrm>
              <a:off x="5157713" y="8697356"/>
              <a:ext cx="3862448" cy="827686"/>
            </a:xfrm>
            <a:prstGeom prst="roundRect">
              <a:avLst>
                <a:gd name="adj" fmla="val 13810"/>
              </a:avLst>
            </a:prstGeom>
            <a:solidFill>
              <a:srgbClr val="FFFFFF"/>
            </a:solidFill>
            <a:ln w="9525" cap="flat" cmpd="sng">
              <a:solidFill>
                <a:srgbClr val="E3DCC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337" name="Google Shape;337;p11"/>
            <p:cNvSpPr/>
            <p:nvPr/>
          </p:nvSpPr>
          <p:spPr>
            <a:xfrm>
              <a:off x="5354498" y="8877875"/>
              <a:ext cx="482808" cy="2133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E7D5A"/>
                </a:buClr>
                <a:buSzPts val="1050"/>
                <a:buFont typeface="JetBrains Mono"/>
                <a:buNone/>
              </a:pPr>
              <a:r>
                <a:rPr lang="en-US" b="0" i="0" u="none" strike="noStrike" cap="none" dirty="0">
                  <a:solidFill>
                    <a:srgbClr val="3E7D5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GATE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1"/>
            <p:cNvSpPr/>
            <p:nvPr/>
          </p:nvSpPr>
          <p:spPr>
            <a:xfrm>
              <a:off x="5337441" y="9107156"/>
              <a:ext cx="3853292" cy="2953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6239"/>
                </a:lnSpc>
                <a:spcBef>
                  <a:spcPts val="0"/>
                </a:spcBef>
                <a:spcAft>
                  <a:spcPts val="0"/>
                </a:spcAft>
                <a:buClr>
                  <a:srgbClr val="1A3A5C"/>
                </a:buClr>
                <a:buSzPts val="1500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1A3A5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3 sites live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3885BD8-108D-DB77-C2A5-D8B5D696FBA9}"/>
              </a:ext>
            </a:extLst>
          </p:cNvPr>
          <p:cNvGrpSpPr/>
          <p:nvPr/>
        </p:nvGrpSpPr>
        <p:grpSpPr>
          <a:xfrm>
            <a:off x="9306724" y="3228436"/>
            <a:ext cx="4248693" cy="2131686"/>
            <a:chOff x="9267711" y="2169659"/>
            <a:chExt cx="4248693" cy="2131686"/>
          </a:xfrm>
        </p:grpSpPr>
        <p:sp>
          <p:nvSpPr>
            <p:cNvPr id="339" name="Google Shape;339;p11"/>
            <p:cNvSpPr/>
            <p:nvPr/>
          </p:nvSpPr>
          <p:spPr>
            <a:xfrm>
              <a:off x="9267711" y="2217380"/>
              <a:ext cx="152338" cy="152338"/>
            </a:xfrm>
            <a:prstGeom prst="ellipse">
              <a:avLst/>
            </a:prstGeom>
            <a:solidFill>
              <a:srgbClr val="C79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1"/>
            <p:cNvSpPr/>
            <p:nvPr/>
          </p:nvSpPr>
          <p:spPr>
            <a:xfrm>
              <a:off x="9534301" y="2169659"/>
              <a:ext cx="1200053" cy="2705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8B7355"/>
                </a:buClr>
                <a:buSzPts val="1275"/>
                <a:buFont typeface="JetBrains Mono"/>
                <a:buNone/>
              </a:pPr>
              <a:r>
                <a:rPr lang="en-US" sz="1600" b="0" i="0" u="none" strike="noStrike" cap="none" dirty="0">
                  <a:solidFill>
                    <a:srgbClr val="8B73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H1 2027</a:t>
              </a: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1"/>
            <p:cNvSpPr/>
            <p:nvPr/>
          </p:nvSpPr>
          <p:spPr>
            <a:xfrm>
              <a:off x="9267711" y="2554402"/>
              <a:ext cx="3862448" cy="28563"/>
            </a:xfrm>
            <a:prstGeom prst="roundRect">
              <a:avLst>
                <a:gd name="adj" fmla="val 50001"/>
              </a:avLst>
            </a:prstGeom>
            <a:solidFill>
              <a:srgbClr val="C79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9267711" y="2735303"/>
              <a:ext cx="4248693" cy="405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3A5C"/>
                </a:buClr>
                <a:buSzPts val="2250"/>
                <a:buFont typeface="Space Grotesk"/>
                <a:buNone/>
              </a:pPr>
              <a:r>
                <a:rPr lang="en-US" sz="2400" b="1" i="0" u="none" strike="noStrike" cap="none">
                  <a:solidFill>
                    <a:srgbClr val="1A3A5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P3 · Learned detection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9267711" y="3383258"/>
              <a:ext cx="3978322" cy="918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983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515F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>
                  <a:solidFill>
                    <a:srgbClr val="40515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Anomaly models trained per machine on field history. Failure-window estimation.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3AFC8F5-DB15-03A0-43AD-7E1E86D6FC57}"/>
              </a:ext>
            </a:extLst>
          </p:cNvPr>
          <p:cNvGrpSpPr/>
          <p:nvPr/>
        </p:nvGrpSpPr>
        <p:grpSpPr>
          <a:xfrm>
            <a:off x="9074589" y="7283505"/>
            <a:ext cx="4248693" cy="1312714"/>
            <a:chOff x="9267711" y="8440155"/>
            <a:chExt cx="3862448" cy="1084887"/>
          </a:xfrm>
        </p:grpSpPr>
        <p:sp>
          <p:nvSpPr>
            <p:cNvPr id="344" name="Google Shape;344;p11"/>
            <p:cNvSpPr/>
            <p:nvPr/>
          </p:nvSpPr>
          <p:spPr>
            <a:xfrm>
              <a:off x="9267711" y="8440155"/>
              <a:ext cx="3862448" cy="1084887"/>
            </a:xfrm>
            <a:prstGeom prst="roundRect">
              <a:avLst>
                <a:gd name="adj" fmla="val 10536"/>
              </a:avLst>
            </a:prstGeom>
            <a:solidFill>
              <a:srgbClr val="FFFFFF"/>
            </a:solidFill>
            <a:ln w="9525" cap="flat" cmpd="sng">
              <a:solidFill>
                <a:srgbClr val="E3DCC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345" name="Google Shape;345;p11"/>
            <p:cNvSpPr/>
            <p:nvPr/>
          </p:nvSpPr>
          <p:spPr>
            <a:xfrm>
              <a:off x="9447438" y="8617535"/>
              <a:ext cx="438916" cy="2133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C79A6A"/>
                </a:buClr>
                <a:buSzPts val="1050"/>
                <a:buFont typeface="JetBrains Mono"/>
                <a:buNone/>
              </a:pPr>
              <a:r>
                <a:rPr lang="en-US" b="0" i="0" u="none" strike="noStrike" cap="none">
                  <a:solidFill>
                    <a:srgbClr val="C79A6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GATE</a:t>
              </a:r>
              <a:endParaRPr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9447438" y="8849955"/>
              <a:ext cx="3608083" cy="5525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6239"/>
                </a:lnSpc>
                <a:spcBef>
                  <a:spcPts val="0"/>
                </a:spcBef>
                <a:spcAft>
                  <a:spcPts val="0"/>
                </a:spcAft>
                <a:buClr>
                  <a:srgbClr val="1A3A5C"/>
                </a:buClr>
                <a:buSzPts val="1500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1A3A5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Enough labelled failure events to train against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52B5A26-6968-06B9-3DF3-D023A399847F}"/>
              </a:ext>
            </a:extLst>
          </p:cNvPr>
          <p:cNvGrpSpPr/>
          <p:nvPr/>
        </p:nvGrpSpPr>
        <p:grpSpPr>
          <a:xfrm>
            <a:off x="13361667" y="3208483"/>
            <a:ext cx="4248693" cy="1858310"/>
            <a:chOff x="13377709" y="2149706"/>
            <a:chExt cx="4248693" cy="1858310"/>
          </a:xfrm>
        </p:grpSpPr>
        <p:sp>
          <p:nvSpPr>
            <p:cNvPr id="347" name="Google Shape;347;p11"/>
            <p:cNvSpPr/>
            <p:nvPr/>
          </p:nvSpPr>
          <p:spPr>
            <a:xfrm>
              <a:off x="13377709" y="2217380"/>
              <a:ext cx="152338" cy="152338"/>
            </a:xfrm>
            <a:prstGeom prst="ellipse">
              <a:avLst/>
            </a:prstGeom>
            <a:solidFill>
              <a:srgbClr val="9E3B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13644300" y="2149706"/>
              <a:ext cx="1314304" cy="22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8B7355"/>
                </a:buClr>
                <a:buSzPts val="1275"/>
                <a:buFont typeface="JetBrains Mono"/>
                <a:buNone/>
              </a:pPr>
              <a:r>
                <a:rPr lang="en-US" sz="1600" b="0" i="0" u="none" strike="noStrike" cap="none" dirty="0">
                  <a:solidFill>
                    <a:srgbClr val="8B73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H2 2027</a:t>
              </a: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13377709" y="2554402"/>
              <a:ext cx="3862448" cy="28563"/>
            </a:xfrm>
            <a:prstGeom prst="roundRect">
              <a:avLst>
                <a:gd name="adj" fmla="val 50001"/>
              </a:avLst>
            </a:prstGeom>
            <a:solidFill>
              <a:srgbClr val="9E3B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13377709" y="2735303"/>
              <a:ext cx="4248693" cy="4053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3A5C"/>
                </a:buClr>
                <a:buSzPts val="2250"/>
                <a:buFont typeface="Space Grotesk"/>
                <a:buNone/>
              </a:pPr>
              <a:r>
                <a:rPr lang="en-US" sz="2400" b="1" i="0" u="none" strike="noStrike" cap="none">
                  <a:solidFill>
                    <a:srgbClr val="1A3A5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P4 · Plant-scale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13377709" y="3383258"/>
              <a:ext cx="3978322" cy="6247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983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515F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>
                  <a:solidFill>
                    <a:srgbClr val="40515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Enterprise on-premise tier. Cellular fallback for sites without reliable WiFi.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5E7F88C-550E-9F6E-E32D-31801B851BD2}"/>
              </a:ext>
            </a:extLst>
          </p:cNvPr>
          <p:cNvGrpSpPr/>
          <p:nvPr/>
        </p:nvGrpSpPr>
        <p:grpSpPr>
          <a:xfrm>
            <a:off x="13390816" y="7269794"/>
            <a:ext cx="4436321" cy="1332998"/>
            <a:chOff x="13377709" y="8697356"/>
            <a:chExt cx="4033019" cy="827686"/>
          </a:xfrm>
        </p:grpSpPr>
        <p:sp>
          <p:nvSpPr>
            <p:cNvPr id="352" name="Google Shape;352;p11"/>
            <p:cNvSpPr/>
            <p:nvPr/>
          </p:nvSpPr>
          <p:spPr>
            <a:xfrm>
              <a:off x="13377709" y="8697356"/>
              <a:ext cx="3862448" cy="827686"/>
            </a:xfrm>
            <a:prstGeom prst="roundRect">
              <a:avLst>
                <a:gd name="adj" fmla="val 13810"/>
              </a:avLst>
            </a:prstGeom>
            <a:solidFill>
              <a:srgbClr val="FFFFFF"/>
            </a:solidFill>
            <a:ln w="9525" cap="flat" cmpd="sng">
              <a:solidFill>
                <a:srgbClr val="E3DCC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353" name="Google Shape;353;p11"/>
            <p:cNvSpPr/>
            <p:nvPr/>
          </p:nvSpPr>
          <p:spPr>
            <a:xfrm>
              <a:off x="13557436" y="8874736"/>
              <a:ext cx="438916" cy="2133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9E3B2E"/>
                </a:buClr>
                <a:buSzPts val="1050"/>
                <a:buFont typeface="JetBrains Mono"/>
                <a:buNone/>
              </a:pPr>
              <a:r>
                <a:rPr lang="en-US" b="0" i="0" u="none" strike="noStrike" cap="none">
                  <a:solidFill>
                    <a:srgbClr val="9E3B2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GATE</a:t>
              </a:r>
              <a:endParaRPr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1"/>
            <p:cNvSpPr/>
            <p:nvPr/>
          </p:nvSpPr>
          <p:spPr>
            <a:xfrm>
              <a:off x="13557436" y="9107156"/>
              <a:ext cx="3853292" cy="2953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6239"/>
                </a:lnSpc>
                <a:spcBef>
                  <a:spcPts val="0"/>
                </a:spcBef>
                <a:spcAft>
                  <a:spcPts val="0"/>
                </a:spcAft>
                <a:buClr>
                  <a:srgbClr val="1A3A5C"/>
                </a:buClr>
                <a:buSzPts val="1500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1A3A5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First enterprise contract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2A7A8A">
                  <a:alpha val="5098"/>
                </a:srgbClr>
              </a:gs>
              <a:gs pos="100000">
                <a:srgbClr val="2A7A8A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1047715" y="761951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· TRACTION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1047715" y="1156361"/>
            <a:ext cx="17811686" cy="64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527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800"/>
              <a:buFont typeface="Space Grotesk"/>
              <a:buNone/>
            </a:pPr>
            <a:r>
              <a:rPr lang="en-US" sz="48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Validated first. Then built.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1047715" y="2127907"/>
            <a:ext cx="3876665" cy="5759110"/>
          </a:xfrm>
          <a:prstGeom prst="roundRect">
            <a:avLst>
              <a:gd name="adj" fmla="val 3931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  <a:effectLst>
            <a:outerShdw blurRad="342900" dist="152400" dir="5400000" algn="bl" rotWithShape="0">
              <a:srgbClr val="12293F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1322654" y="2440931"/>
            <a:ext cx="3659466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125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VALIDATED, THEN BUILT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1322654" y="2918287"/>
            <a:ext cx="3426591" cy="157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06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10+ factory-floor conversations before any hardware. Then the full stack — sensors to alerting — in </a:t>
            </a:r>
            <a:r>
              <a:rPr lang="en-US" sz="2000" b="1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8 weeks </a:t>
            </a: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5152887" y="2127907"/>
            <a:ext cx="3876795" cy="5759110"/>
          </a:xfrm>
          <a:prstGeom prst="roundRect">
            <a:avLst>
              <a:gd name="adj" fmla="val 3931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  <a:effectLst>
            <a:outerShdw blurRad="342900" dist="152400" dir="5400000" algn="bl" rotWithShape="0">
              <a:srgbClr val="12293F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5427826" y="2440931"/>
            <a:ext cx="365960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125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NATIONAL COMPETITION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5427826" y="2918287"/>
            <a:ext cx="3426725" cy="95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068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725"/>
              <a:buFont typeface="Space Grotesk"/>
              <a:buNone/>
            </a:pPr>
            <a:r>
              <a:rPr lang="en-US" sz="2000" b="1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2nd Runner-Up </a:t>
            </a: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ELXR'26 Grand Finale — top 10 of 30 teams on product, market and model.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9258190" y="2127907"/>
            <a:ext cx="3876665" cy="5759110"/>
          </a:xfrm>
          <a:prstGeom prst="roundRect">
            <a:avLst>
              <a:gd name="adj" fmla="val 3931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  <a:effectLst>
            <a:outerShdw blurRad="342900" dist="152400" dir="5400000" algn="bl" rotWithShape="0">
              <a:srgbClr val="12293F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9533129" y="2440931"/>
            <a:ext cx="3659466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125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FIRST SITE LINED UP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9533129" y="2918287"/>
            <a:ext cx="3426591" cy="126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06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HSK Bone Care, Karachi. Related-party, disclosed. Lined up, not yet contracted — a second site identified.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13363361" y="2127907"/>
            <a:ext cx="3876795" cy="5759110"/>
          </a:xfrm>
          <a:prstGeom prst="roundRect">
            <a:avLst>
              <a:gd name="adj" fmla="val 3931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  <a:effectLst>
            <a:outerShdw blurRad="342900" dist="152400" dir="5400000" algn="bl" rotWithShape="0">
              <a:srgbClr val="12293F">
                <a:alpha val="3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13638300" y="2440931"/>
            <a:ext cx="365960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125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FOUNDER TRACK RECORD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13638300" y="2918287"/>
            <a:ext cx="3426725" cy="126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06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PIAIC Agentic AI, CUDA (NVIDIA DLI). Shipped </a:t>
            </a:r>
            <a:r>
              <a:rPr lang="en-US" sz="2000" b="0" i="0" u="none" strike="noStrike" cap="none" dirty="0" err="1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ZeroBalance</a:t>
            </a: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 at the UBL hackathon — the pattern </a:t>
            </a:r>
            <a:r>
              <a:rPr lang="en-US" sz="2000" b="0" i="0" u="none" strike="noStrike" cap="none" dirty="0" err="1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TwinLab</a:t>
            </a: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 runs on.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1047715" y="8248950"/>
            <a:ext cx="16192442" cy="1276092"/>
          </a:xfrm>
          <a:prstGeom prst="roundRect">
            <a:avLst>
              <a:gd name="adj" fmla="val 11943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6230079" y="8496499"/>
            <a:ext cx="9525" cy="780993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1371564" y="8496499"/>
            <a:ext cx="5344367" cy="52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Space Grotesk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1371564" y="9018727"/>
            <a:ext cx="5344367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4C0"/>
              </a:buClr>
              <a:buSzPts val="1425"/>
              <a:buFont typeface="Space Grotesk"/>
              <a:buNone/>
            </a:pPr>
            <a:r>
              <a:rPr lang="en-US" sz="1800" b="0" i="0" u="none" strike="noStrike" cap="none" dirty="0">
                <a:solidFill>
                  <a:srgbClr val="8FB4C0"/>
                </a:solidFill>
                <a:latin typeface="Space Grotesk"/>
                <a:ea typeface="Space Grotesk"/>
                <a:cs typeface="Space Grotesk"/>
                <a:sym typeface="Space Grotesk"/>
              </a:rPr>
              <a:t>revenue — pre-revenue by design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11573259" y="8496499"/>
            <a:ext cx="9525" cy="780993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6714613" y="8496499"/>
            <a:ext cx="5344510" cy="55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Space Grotesk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 → 1 → 1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6714613" y="9052116"/>
            <a:ext cx="5344510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4C0"/>
              </a:buClr>
              <a:buSzPts val="1425"/>
              <a:buFont typeface="Space Grotesk"/>
              <a:buNone/>
            </a:pPr>
            <a:r>
              <a:rPr lang="en-US" sz="1600" b="0" i="0" u="none" strike="noStrike" cap="none" dirty="0">
                <a:solidFill>
                  <a:srgbClr val="8FB4C0"/>
                </a:solidFill>
                <a:latin typeface="Space Grotesk"/>
                <a:ea typeface="Space Grotesk"/>
                <a:cs typeface="Space Grotesk"/>
                <a:sym typeface="Space Grotesk"/>
              </a:rPr>
              <a:t>paying · lined up · identified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12057793" y="8496499"/>
            <a:ext cx="5344367" cy="52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3000"/>
              <a:buFont typeface="Space Grotesk"/>
              <a:buNone/>
            </a:pPr>
            <a:r>
              <a:rPr lang="en-US" sz="3000" b="1" i="0" u="none" strike="noStrike" cap="none">
                <a:solidFill>
                  <a:srgbClr val="5FB3C4"/>
                </a:solidFill>
                <a:latin typeface="Space Grotesk"/>
                <a:ea typeface="Space Grotesk"/>
                <a:cs typeface="Space Grotesk"/>
                <a:sym typeface="Space Grotesk"/>
              </a:rPr>
              <a:t>2nd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12057793" y="9018727"/>
            <a:ext cx="5344367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B4C0"/>
              </a:buClr>
              <a:buSzPts val="1425"/>
              <a:buFont typeface="Space Grotesk"/>
              <a:buNone/>
            </a:pPr>
            <a:r>
              <a:rPr lang="en-US" sz="1600" b="0" i="0" u="none" strike="noStrike" cap="none">
                <a:solidFill>
                  <a:srgbClr val="8FB4C0"/>
                </a:solidFill>
                <a:latin typeface="Space Grotesk"/>
                <a:ea typeface="Space Grotesk"/>
                <a:cs typeface="Space Grotesk"/>
                <a:sym typeface="Space Grotesk"/>
              </a:rPr>
              <a:t>Runner-Up, ELXR'26 national finale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1A3A5C">
                  <a:alpha val="5098"/>
                </a:srgbClr>
              </a:gs>
              <a:gs pos="100000">
                <a:srgbClr val="1A3A5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1047715" y="761951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· CUSTOMER SEGMENTS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1047715" y="1137318"/>
            <a:ext cx="17811686" cy="64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527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800"/>
              <a:buFont typeface="Space Grotesk"/>
              <a:buNone/>
            </a:pPr>
            <a:r>
              <a:rPr lang="en-US" sz="4800" b="1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Two buyers. Same failure. Different cheque.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1047715" y="2089823"/>
            <a:ext cx="7924710" cy="6398982"/>
          </a:xfrm>
          <a:prstGeom prst="roundRect">
            <a:avLst>
              <a:gd name="adj" fmla="val 208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1047715" y="8480457"/>
            <a:ext cx="7924710" cy="9525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1047715" y="2089823"/>
            <a:ext cx="7924710" cy="3338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1047715" y="2089823"/>
            <a:ext cx="9525" cy="6398982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8964078" y="2089823"/>
            <a:ext cx="9525" cy="6398982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1417996" y="2466103"/>
            <a:ext cx="3100223" cy="44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550"/>
              <a:buFont typeface="Space Grotesk"/>
              <a:buNone/>
            </a:pPr>
            <a:r>
              <a:rPr lang="en-US" sz="25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plant director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5641618" y="2654974"/>
            <a:ext cx="3490353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ENTERPRISE · TEXTILE &amp; FMCG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1455293" y="3078874"/>
            <a:ext cx="474137" cy="25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05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WHO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1417996" y="3378825"/>
            <a:ext cx="7399673" cy="60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907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6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45–55, mechanical/industrial engineering, 20+ years on the floor. Runs plant OPEX, reports to the CEO.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1396513" y="4187494"/>
            <a:ext cx="1591931" cy="25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050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BUYS BECAUSE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1417996" y="4487446"/>
            <a:ext cx="7399673" cy="60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907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6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An unplanned stoppage costs a shift — and the delivery contract doesn't care why.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1412555" y="5424450"/>
            <a:ext cx="1591931" cy="25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105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9E3B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WON'T BUY IF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1417996" y="5724402"/>
            <a:ext cx="7399673" cy="60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907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650"/>
              <a:buFont typeface="Space Grotesk"/>
              <a:buNone/>
            </a:pPr>
            <a:r>
              <a:rPr lang="en-US" sz="2000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It touches the control system, needs a firewall change, or requires IT sign-off.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1417996" y="7548821"/>
            <a:ext cx="7184149" cy="9525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1417996" y="7728618"/>
            <a:ext cx="7399673" cy="44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550"/>
              <a:buFont typeface="Space Grotesk"/>
              <a:buNone/>
            </a:pPr>
            <a:r>
              <a:rPr lang="en-US" sz="25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1.7 Cr </a:t>
            </a:r>
            <a:r>
              <a:rPr lang="en-US" sz="1425" b="1" i="0" u="none" strike="noStrike" cap="none">
                <a:solidFill>
                  <a:srgbClr val="9C8E75"/>
                </a:solidFill>
                <a:latin typeface="Space Grotesk"/>
                <a:ea typeface="Space Grotesk"/>
                <a:cs typeface="Space Grotesk"/>
                <a:sym typeface="Space Grotesk"/>
              </a:rPr>
              <a:t>/ plant / year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9315316" y="2089823"/>
            <a:ext cx="7924840" cy="6398982"/>
          </a:xfrm>
          <a:prstGeom prst="roundRect">
            <a:avLst>
              <a:gd name="adj" fmla="val 208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9315316" y="8480457"/>
            <a:ext cx="7924840" cy="9525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9315316" y="2089823"/>
            <a:ext cx="7924840" cy="33389"/>
          </a:xfrm>
          <a:prstGeom prst="rect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9315316" y="2089823"/>
            <a:ext cx="9525" cy="6398982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17231809" y="2089823"/>
            <a:ext cx="9525" cy="6398982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9685597" y="2466103"/>
            <a:ext cx="3432497" cy="44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550"/>
              <a:buFont typeface="Space Grotesk"/>
              <a:buNone/>
            </a:pPr>
            <a:r>
              <a:rPr lang="en-US" sz="25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owner-operator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16539908" y="2641396"/>
            <a:ext cx="444763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9722894" y="3078874"/>
            <a:ext cx="474137" cy="25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05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WHO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9685597" y="3378825"/>
            <a:ext cx="7399807" cy="60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907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650"/>
              <a:buFont typeface="Space Grotesk"/>
              <a:buNone/>
            </a:pPr>
            <a:r>
              <a:rPr lang="en-US" sz="2000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40–60. Owns one or two factories, a hospital, a cold store. Runs the operation himself, daily.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9664114" y="4187494"/>
            <a:ext cx="1591931" cy="25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050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BUYS BECAUSE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9685597" y="4487446"/>
            <a:ext cx="7399807" cy="60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907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6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One generator failure at the wrong hour costs more than a year of the subscription.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9680156" y="5424450"/>
            <a:ext cx="1591931" cy="25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E3B2E"/>
              </a:buClr>
              <a:buSzPts val="1050"/>
              <a:buFont typeface="JetBrains Mono"/>
              <a:buNone/>
            </a:pPr>
            <a:r>
              <a:rPr lang="en-US" sz="1600" b="0" i="0" u="none" strike="noStrike" cap="none" dirty="0">
                <a:solidFill>
                  <a:srgbClr val="9E3B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WON'T BUY IF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9685597" y="5724402"/>
            <a:ext cx="7399807" cy="60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5907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6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It needs cabling, drilling, staff training, or changing how his people work.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9685597" y="7548821"/>
            <a:ext cx="7184279" cy="9525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9685597" y="7728618"/>
            <a:ext cx="7399807" cy="44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2550"/>
              <a:buFont typeface="Space Grotesk"/>
              <a:buNone/>
            </a:pPr>
            <a:r>
              <a:rPr lang="en-US" sz="2550" b="1" i="0" u="none" strike="noStrike" cap="none">
                <a:solidFill>
                  <a:srgbClr val="2A7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50,000 </a:t>
            </a:r>
            <a:r>
              <a:rPr lang="en-US" sz="1425" b="1" i="0" u="none" strike="noStrike" cap="none">
                <a:solidFill>
                  <a:srgbClr val="9C8E75"/>
                </a:solidFill>
                <a:latin typeface="Space Grotesk"/>
                <a:ea typeface="Space Grotesk"/>
                <a:cs typeface="Space Grotesk"/>
                <a:sym typeface="Space Grotesk"/>
              </a:rPr>
              <a:t>/ year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1047715" y="8831695"/>
            <a:ext cx="16678215" cy="73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304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5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Both read WhatsApp in Urdu. Neither will open a dashboard at 2am — which is why the alert is the product and the dashboard is the record.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4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1A3A5C">
                  <a:alpha val="5098"/>
                </a:srgbClr>
              </a:gs>
              <a:gs pos="100000">
                <a:srgbClr val="1A3A5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1047715" y="761951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· MARKET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1047715" y="1175403"/>
            <a:ext cx="13734977" cy="1295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45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950"/>
              <a:buFont typeface="Space Grotesk"/>
              <a:buNone/>
            </a:pPr>
            <a:r>
              <a:rPr lang="en-US" sz="49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A market the foreign vendors priced themselves out of.</a:t>
            </a:r>
            <a:endParaRPr sz="4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1047715" y="3802322"/>
            <a:ext cx="16192442" cy="1029325"/>
          </a:xfrm>
          <a:prstGeom prst="roundRect">
            <a:avLst>
              <a:gd name="adj" fmla="val 12955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1371564" y="4175080"/>
            <a:ext cx="516259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JetBrains Mono"/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TAM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5222144" y="4133344"/>
            <a:ext cx="6631284" cy="40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AD6"/>
              </a:buClr>
              <a:buSzPts val="2250"/>
              <a:buFont typeface="Space Grotesk"/>
              <a:buNone/>
            </a:pPr>
            <a:r>
              <a:rPr lang="en-US" sz="2250" b="0" i="0" u="none" strike="noStrike" cap="none">
                <a:solidFill>
                  <a:srgbClr val="B9CAD6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Every plant with critical rotating equipment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14661105" y="4049871"/>
            <a:ext cx="2480724" cy="572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Space Grotesk"/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900 Cr</a:t>
            </a:r>
            <a:r>
              <a:rPr lang="en-US" sz="1800" b="1" i="0" u="none" strike="noStrike" cap="none">
                <a:solidFill>
                  <a:srgbClr val="8FB4C0"/>
                </a:solidFill>
                <a:latin typeface="Space Grotesk"/>
                <a:ea typeface="Space Grotesk"/>
                <a:cs typeface="Space Grotesk"/>
                <a:sym typeface="Space Grotesk"/>
              </a:rPr>
              <a:t>/yr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1047715" y="5022070"/>
            <a:ext cx="10687012" cy="1029325"/>
          </a:xfrm>
          <a:prstGeom prst="roundRect">
            <a:avLst>
              <a:gd name="adj" fmla="val 12955"/>
            </a:avLst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1371564" y="5394828"/>
            <a:ext cx="516259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JetBrains Mono"/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SAM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8486848" y="5269619"/>
            <a:ext cx="3216433" cy="572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Space Grotesk"/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95–130 Cr</a:t>
            </a:r>
            <a:r>
              <a:rPr lang="en-US" sz="1800" b="1" i="0" u="none" strike="noStrike" cap="none">
                <a:solidFill>
                  <a:srgbClr val="CDEAF0"/>
                </a:solidFill>
                <a:latin typeface="Space Grotesk"/>
                <a:ea typeface="Space Grotesk"/>
                <a:cs typeface="Space Grotesk"/>
                <a:sym typeface="Space Grotesk"/>
              </a:rPr>
              <a:t>/yr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12025167" y="5390655"/>
            <a:ext cx="4769199" cy="3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80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55–75 serviceable enterprise plants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1047715" y="6241818"/>
            <a:ext cx="5505430" cy="979242"/>
          </a:xfrm>
          <a:prstGeom prst="roundRect">
            <a:avLst>
              <a:gd name="adj" fmla="val 13618"/>
            </a:avLst>
          </a:prstGeom>
          <a:solidFill>
            <a:srgbClr val="C79A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1371564" y="6589534"/>
            <a:ext cx="1613453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2C16"/>
              </a:buClr>
              <a:buSzPts val="1650"/>
              <a:buFont typeface="JetBrains Mono"/>
              <a:buNone/>
            </a:pPr>
            <a:r>
              <a:rPr lang="en-US" sz="1650" b="0" i="0" u="none" strike="noStrike" cap="none">
                <a:solidFill>
                  <a:srgbClr val="3A2C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 · YR 5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4102694" y="6489367"/>
            <a:ext cx="2339263" cy="52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2C16"/>
              </a:buClr>
              <a:buSzPts val="3000"/>
              <a:buFont typeface="Space Grotesk"/>
              <a:buNone/>
            </a:pPr>
            <a:r>
              <a:rPr lang="en-US" sz="3000" b="1" i="0" u="none" strike="noStrike" cap="none">
                <a:solidFill>
                  <a:srgbClr val="3A2C16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18–20 Cr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6805426" y="6585361"/>
            <a:ext cx="3844082" cy="3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80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10–12 plants + 200 SME sites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1047715" y="8590667"/>
            <a:ext cx="7924710" cy="2504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1047715" y="8900300"/>
            <a:ext cx="3076838" cy="40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50"/>
              <a:buFont typeface="Space Grotesk"/>
              <a:buNone/>
            </a:pPr>
            <a:r>
              <a:rPr lang="en-US" sz="22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plant director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1067886" y="9340749"/>
            <a:ext cx="4095271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200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ENTERPRISE · TEXTILE &amp; FMCG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6709527" y="8825174"/>
            <a:ext cx="2489188" cy="50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850"/>
              <a:buFont typeface="Space Grotesk"/>
              <a:buNone/>
            </a:pPr>
            <a:r>
              <a:rPr lang="en-US" sz="28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1.7 Cr</a:t>
            </a:r>
            <a:r>
              <a:rPr lang="en-US" sz="1500" b="1" i="0" u="none" strike="noStrike" cap="none">
                <a:solidFill>
                  <a:srgbClr val="9C8E75"/>
                </a:solidFill>
                <a:latin typeface="Space Grotesk"/>
                <a:ea typeface="Space Grotesk"/>
                <a:cs typeface="Space Grotesk"/>
                <a:sym typeface="Space Grotesk"/>
              </a:rPr>
              <a:t>/plant/yr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9315316" y="8590667"/>
            <a:ext cx="7924840" cy="25042"/>
          </a:xfrm>
          <a:prstGeom prst="rect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9315316" y="8900300"/>
            <a:ext cx="3030784" cy="40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50"/>
              <a:buFont typeface="Space Grotesk"/>
              <a:buNone/>
            </a:pPr>
            <a:r>
              <a:rPr lang="en-US" sz="22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owner-operator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9343109" y="9340749"/>
            <a:ext cx="4033973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200"/>
              <a:buFont typeface="JetBrains Mono"/>
              <a:buNone/>
            </a:pPr>
            <a:r>
              <a:rPr lang="en-US" sz="180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15784728" y="8825174"/>
            <a:ext cx="1600971" cy="50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2850"/>
              <a:buFont typeface="Space Grotesk"/>
              <a:buNone/>
            </a:pPr>
            <a:r>
              <a:rPr lang="en-US" sz="2850" b="1" i="0" u="none" strike="noStrike" cap="none">
                <a:solidFill>
                  <a:srgbClr val="2A7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50K</a:t>
            </a:r>
            <a:r>
              <a:rPr lang="en-US" sz="1500" b="1" i="0" u="none" strike="noStrike" cap="none">
                <a:solidFill>
                  <a:srgbClr val="9C8E75"/>
                </a:solidFill>
                <a:latin typeface="Space Grotesk"/>
                <a:ea typeface="Space Grotesk"/>
                <a:cs typeface="Space Grotesk"/>
                <a:sym typeface="Space Grotesk"/>
              </a:rPr>
              <a:t>/yr</a:t>
            </a:r>
            <a:endParaRPr sz="2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5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5FB3C4">
                  <a:alpha val="5882"/>
                </a:srgbClr>
              </a:gs>
              <a:gs pos="100000">
                <a:srgbClr val="5FB3C4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1047715" y="761951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 · UNIQUE VALUE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1047715" y="1156361"/>
            <a:ext cx="16344858" cy="62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27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Space Grotesk"/>
              <a:buNone/>
            </a:pPr>
            <a:r>
              <a:rPr lang="en-US" sz="45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Built for how Pakistani plants actually run.</a:t>
            </a:r>
            <a:endParaRPr sz="4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1047715" y="2132912"/>
            <a:ext cx="7972446" cy="3578640"/>
          </a:xfrm>
          <a:prstGeom prst="roundRect">
            <a:avLst>
              <a:gd name="adj" fmla="val 4259"/>
            </a:avLst>
          </a:prstGeom>
          <a:solidFill>
            <a:srgbClr val="EAF4F7">
              <a:alpha val="5098"/>
            </a:srgbClr>
          </a:solidFill>
          <a:ln w="9525" cap="flat" cmpd="sng">
            <a:solidFill>
              <a:srgbClr val="3356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1398954" y="2452408"/>
            <a:ext cx="7996966" cy="43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2400"/>
              <a:buFont typeface="Space Grotesk"/>
              <a:buNone/>
            </a:pPr>
            <a:r>
              <a:rPr lang="en-US" sz="2800" b="1" i="0" u="none" strike="noStrike" cap="none" dirty="0">
                <a:solidFill>
                  <a:srgbClr val="5FB3C4"/>
                </a:solidFill>
                <a:latin typeface="Space Grotesk"/>
                <a:ea typeface="Space Grotesk"/>
                <a:cs typeface="Space Grotesk"/>
                <a:sym typeface="Space Grotesk"/>
              </a:rPr>
              <a:t>Non-invasive by design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1418481" y="3023153"/>
            <a:ext cx="6807335" cy="998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545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80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Magnetic sensors on the outside of the machine. No PLC access, no firewall change, no IT sign-off. Installs in a day, not a six-month integration.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9267711" y="2132912"/>
            <a:ext cx="7972446" cy="3578640"/>
          </a:xfrm>
          <a:prstGeom prst="roundRect">
            <a:avLst>
              <a:gd name="adj" fmla="val 4259"/>
            </a:avLst>
          </a:prstGeom>
          <a:solidFill>
            <a:srgbClr val="EAF4F7">
              <a:alpha val="5098"/>
            </a:srgbClr>
          </a:solidFill>
          <a:ln w="9525" cap="flat" cmpd="sng">
            <a:solidFill>
              <a:srgbClr val="3356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9618949" y="2452408"/>
            <a:ext cx="7996966" cy="43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2400"/>
              <a:buFont typeface="Space Grotesk"/>
              <a:buNone/>
            </a:pPr>
            <a:r>
              <a:rPr lang="en-US" sz="2800" b="1" i="0" u="none" strike="noStrike" cap="none" dirty="0">
                <a:solidFill>
                  <a:srgbClr val="5FB3C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Priced in rupees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9638476" y="3023153"/>
            <a:ext cx="6807335" cy="678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545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80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dollar exposure and no renewal that grows with the exchange rate. A Pakistani vendor a plant can actually procure from.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1047715" y="5959102"/>
            <a:ext cx="7972446" cy="3578640"/>
          </a:xfrm>
          <a:prstGeom prst="roundRect">
            <a:avLst>
              <a:gd name="adj" fmla="val 4259"/>
            </a:avLst>
          </a:prstGeom>
          <a:solidFill>
            <a:srgbClr val="EAF4F7">
              <a:alpha val="5098"/>
            </a:srgbClr>
          </a:solidFill>
          <a:ln w="9525" cap="flat" cmpd="sng">
            <a:solidFill>
              <a:srgbClr val="3356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1398954" y="6278598"/>
            <a:ext cx="7996966" cy="43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2400"/>
              <a:buFont typeface="Space Grotesk"/>
              <a:buNone/>
            </a:pPr>
            <a:r>
              <a:rPr lang="en-US" sz="2800" b="1" i="0" u="none" strike="noStrike" cap="none">
                <a:solidFill>
                  <a:srgbClr val="5FB3C4"/>
                </a:solidFill>
                <a:latin typeface="Space Grotesk"/>
                <a:ea typeface="Space Grotesk"/>
                <a:cs typeface="Space Grotesk"/>
                <a:sym typeface="Space Grotesk"/>
              </a:rPr>
              <a:t>Urdu is the interface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1418481" y="6849342"/>
            <a:ext cx="6807335" cy="998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545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80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alert reaches the maintenance head in the language he works in, on the app already in his hand — not an English dashboard nobody opens.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9267711" y="5959102"/>
            <a:ext cx="7972446" cy="3578640"/>
          </a:xfrm>
          <a:prstGeom prst="roundRect">
            <a:avLst>
              <a:gd name="adj" fmla="val 4259"/>
            </a:avLst>
          </a:prstGeom>
          <a:solidFill>
            <a:srgbClr val="EAF4F7">
              <a:alpha val="5098"/>
            </a:srgbClr>
          </a:solidFill>
          <a:ln w="9525" cap="flat" cmpd="sng">
            <a:solidFill>
              <a:srgbClr val="3356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9618949" y="6278598"/>
            <a:ext cx="7996966" cy="43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2400"/>
              <a:buFont typeface="Space Grotesk"/>
              <a:buNone/>
            </a:pPr>
            <a:r>
              <a:rPr lang="en-US" sz="2800" b="1" i="0" u="none" strike="noStrike" cap="none">
                <a:solidFill>
                  <a:srgbClr val="5FB3C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machines nobody covers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9638476" y="6849342"/>
            <a:ext cx="6807335" cy="678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545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800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Compressors, gensets, motors, older lines — the equipment sitting outside whatever control system a plant already has.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6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1A3A5C">
                  <a:alpha val="5098"/>
                </a:srgbClr>
              </a:gs>
              <a:gs pos="100000">
                <a:srgbClr val="1A3A5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7" name="Google Shape;477;p16"/>
          <p:cNvSpPr/>
          <p:nvPr/>
        </p:nvSpPr>
        <p:spPr>
          <a:xfrm>
            <a:off x="1047715" y="704824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 · EXISTING ALTERNATIVES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1047715" y="1449158"/>
            <a:ext cx="17811686" cy="571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7928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200"/>
              <a:buFont typeface="Space Grotesk"/>
              <a:buNone/>
            </a:pPr>
            <a:r>
              <a:rPr lang="en-US" sz="4200" b="1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Four alternatives today. None of them fit.</a:t>
            </a:r>
            <a:endParaRPr sz="4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1047715" y="3169595"/>
            <a:ext cx="16192442" cy="2982591"/>
          </a:xfrm>
          <a:prstGeom prst="roundRect">
            <a:avLst>
              <a:gd name="adj" fmla="val 2277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0" name="Google Shape;480;p16"/>
          <p:cNvSpPr/>
          <p:nvPr/>
        </p:nvSpPr>
        <p:spPr>
          <a:xfrm>
            <a:off x="5023635" y="3177941"/>
            <a:ext cx="9525" cy="51805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6"/>
          <p:cNvSpPr/>
          <p:nvPr/>
        </p:nvSpPr>
        <p:spPr>
          <a:xfrm>
            <a:off x="5222482" y="3349391"/>
            <a:ext cx="2754191" cy="21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FOREIGN SCAPM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8075613" y="3177941"/>
            <a:ext cx="9525" cy="51805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6"/>
          <p:cNvSpPr/>
          <p:nvPr/>
        </p:nvSpPr>
        <p:spPr>
          <a:xfrm>
            <a:off x="8274461" y="3349391"/>
            <a:ext cx="2754325" cy="21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EPSILON SYSTEMS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6"/>
          <p:cNvSpPr/>
          <p:nvPr/>
        </p:nvSpPr>
        <p:spPr>
          <a:xfrm>
            <a:off x="11127722" y="3177941"/>
            <a:ext cx="9525" cy="51805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6"/>
          <p:cNvSpPr/>
          <p:nvPr/>
        </p:nvSpPr>
        <p:spPr>
          <a:xfrm>
            <a:off x="11326569" y="3349391"/>
            <a:ext cx="2754191" cy="21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INTEGRATORS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14179701" y="3177941"/>
            <a:ext cx="3051979" cy="518054"/>
          </a:xfrm>
          <a:prstGeom prst="rect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6"/>
          <p:cNvSpPr/>
          <p:nvPr/>
        </p:nvSpPr>
        <p:spPr>
          <a:xfrm>
            <a:off x="14179701" y="3177941"/>
            <a:ext cx="9525" cy="51805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14378548" y="3349391"/>
            <a:ext cx="2754191" cy="21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JetBrains Mono"/>
              <a:buNone/>
            </a:pPr>
            <a:r>
              <a:rPr lang="en-US" b="0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TWINLAB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1056063" y="3750367"/>
            <a:ext cx="3967572" cy="517825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6"/>
          <p:cNvSpPr/>
          <p:nvPr/>
        </p:nvSpPr>
        <p:spPr>
          <a:xfrm>
            <a:off x="1056063" y="3695995"/>
            <a:ext cx="3967572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6"/>
          <p:cNvSpPr/>
          <p:nvPr/>
        </p:nvSpPr>
        <p:spPr>
          <a:xfrm>
            <a:off x="1265613" y="3875792"/>
            <a:ext cx="3667499" cy="313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1A3A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ENTRY COST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5023635" y="3695995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6"/>
          <p:cNvSpPr/>
          <p:nvPr/>
        </p:nvSpPr>
        <p:spPr>
          <a:xfrm>
            <a:off x="5023635" y="3695995"/>
            <a:ext cx="9525" cy="626569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6"/>
          <p:cNvSpPr/>
          <p:nvPr/>
        </p:nvSpPr>
        <p:spPr>
          <a:xfrm>
            <a:off x="5222482" y="3875792"/>
            <a:ext cx="2754191" cy="313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USD 300K+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8075613" y="3695995"/>
            <a:ext cx="305210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6"/>
          <p:cNvSpPr/>
          <p:nvPr/>
        </p:nvSpPr>
        <p:spPr>
          <a:xfrm>
            <a:off x="8075613" y="3695995"/>
            <a:ext cx="9525" cy="626569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6"/>
          <p:cNvSpPr/>
          <p:nvPr/>
        </p:nvSpPr>
        <p:spPr>
          <a:xfrm>
            <a:off x="8274461" y="3875792"/>
            <a:ext cx="2754325" cy="313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~USD 50K (project)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11127722" y="3695995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6"/>
          <p:cNvSpPr/>
          <p:nvPr/>
        </p:nvSpPr>
        <p:spPr>
          <a:xfrm>
            <a:off x="11127722" y="3695995"/>
            <a:ext cx="9525" cy="626569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6"/>
          <p:cNvSpPr/>
          <p:nvPr/>
        </p:nvSpPr>
        <p:spPr>
          <a:xfrm>
            <a:off x="11326569" y="3875792"/>
            <a:ext cx="2754191" cy="313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0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14179701" y="3695995"/>
            <a:ext cx="3051979" cy="626569"/>
          </a:xfrm>
          <a:prstGeom prst="rect">
            <a:avLst/>
          </a:prstGeom>
          <a:solidFill>
            <a:srgbClr val="2A7A8A">
              <a:alpha val="70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6"/>
          <p:cNvSpPr/>
          <p:nvPr/>
        </p:nvSpPr>
        <p:spPr>
          <a:xfrm>
            <a:off x="14179701" y="3695995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6"/>
          <p:cNvSpPr/>
          <p:nvPr/>
        </p:nvSpPr>
        <p:spPr>
          <a:xfrm>
            <a:off x="14179701" y="3695995"/>
            <a:ext cx="9525" cy="626569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6"/>
          <p:cNvSpPr/>
          <p:nvPr/>
        </p:nvSpPr>
        <p:spPr>
          <a:xfrm>
            <a:off x="14378548" y="3875792"/>
            <a:ext cx="2754191" cy="313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575"/>
              <a:buFont typeface="Space Grotesk"/>
              <a:buNone/>
            </a:pPr>
            <a:r>
              <a:rPr lang="en-US" sz="1575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50K/yr → 1.7 Cr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1056063" y="4375487"/>
            <a:ext cx="3967572" cy="504028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1056063" y="4322564"/>
            <a:ext cx="3967572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6"/>
          <p:cNvSpPr/>
          <p:nvPr/>
        </p:nvSpPr>
        <p:spPr>
          <a:xfrm>
            <a:off x="1265613" y="4502361"/>
            <a:ext cx="3667499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JetBrains Mono"/>
              <a:buNone/>
            </a:pPr>
            <a:r>
              <a:rPr lang="en-US" b="0" i="0" u="none" strike="noStrike" cap="none">
                <a:solidFill>
                  <a:srgbClr val="1A3A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TIME TO LIVE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5023635" y="4322564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6"/>
          <p:cNvSpPr/>
          <p:nvPr/>
        </p:nvSpPr>
        <p:spPr>
          <a:xfrm>
            <a:off x="5023635" y="4322564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6"/>
          <p:cNvSpPr/>
          <p:nvPr/>
        </p:nvSpPr>
        <p:spPr>
          <a:xfrm>
            <a:off x="5222482" y="4502361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6–18 months</a:t>
            </a:r>
            <a:endParaRPr sz="15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8075613" y="4322564"/>
            <a:ext cx="305210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6"/>
          <p:cNvSpPr/>
          <p:nvPr/>
        </p:nvSpPr>
        <p:spPr>
          <a:xfrm>
            <a:off x="8075613" y="4322564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6"/>
          <p:cNvSpPr/>
          <p:nvPr/>
        </p:nvSpPr>
        <p:spPr>
          <a:xfrm>
            <a:off x="8274461" y="4502361"/>
            <a:ext cx="2754325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Weeks–months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11127722" y="4322564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6"/>
          <p:cNvSpPr/>
          <p:nvPr/>
        </p:nvSpPr>
        <p:spPr>
          <a:xfrm>
            <a:off x="11127722" y="4322564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6"/>
          <p:cNvSpPr/>
          <p:nvPr/>
        </p:nvSpPr>
        <p:spPr>
          <a:xfrm>
            <a:off x="11326569" y="4502361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~6 months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14179701" y="4322564"/>
            <a:ext cx="3051979" cy="609874"/>
          </a:xfrm>
          <a:prstGeom prst="rect">
            <a:avLst/>
          </a:prstGeom>
          <a:solidFill>
            <a:srgbClr val="2A7A8A">
              <a:alpha val="70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6"/>
          <p:cNvSpPr/>
          <p:nvPr/>
        </p:nvSpPr>
        <p:spPr>
          <a:xfrm>
            <a:off x="14179701" y="4322564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6"/>
          <p:cNvSpPr/>
          <p:nvPr/>
        </p:nvSpPr>
        <p:spPr>
          <a:xfrm>
            <a:off x="14179701" y="4322564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6"/>
          <p:cNvSpPr/>
          <p:nvPr/>
        </p:nvSpPr>
        <p:spPr>
          <a:xfrm>
            <a:off x="14378548" y="4502361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575"/>
              <a:buFont typeface="Space Grotesk"/>
              <a:buNone/>
            </a:pPr>
            <a:r>
              <a:rPr lang="en-US" sz="1575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Under 1 day / machine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1056063" y="4985361"/>
            <a:ext cx="3967572" cy="504028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1056063" y="4932438"/>
            <a:ext cx="3967572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6"/>
          <p:cNvSpPr/>
          <p:nvPr/>
        </p:nvSpPr>
        <p:spPr>
          <a:xfrm>
            <a:off x="1265613" y="5112235"/>
            <a:ext cx="3667499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JetBrains Mono"/>
              <a:buNone/>
            </a:pPr>
            <a:r>
              <a:rPr lang="en-US" b="0" i="0" u="none" strike="noStrike" cap="none">
                <a:solidFill>
                  <a:srgbClr val="1A3A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TOUCHES CONTROL SYSTEM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5023635" y="4932438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5" name="Google Shape;525;p16"/>
          <p:cNvSpPr/>
          <p:nvPr/>
        </p:nvSpPr>
        <p:spPr>
          <a:xfrm>
            <a:off x="5023635" y="4932438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6"/>
          <p:cNvSpPr/>
          <p:nvPr/>
        </p:nvSpPr>
        <p:spPr>
          <a:xfrm>
            <a:off x="5222482" y="5112235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Yes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8075613" y="4932438"/>
            <a:ext cx="305210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6"/>
          <p:cNvSpPr/>
          <p:nvPr/>
        </p:nvSpPr>
        <p:spPr>
          <a:xfrm>
            <a:off x="8075613" y="4932438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6"/>
          <p:cNvSpPr/>
          <p:nvPr/>
        </p:nvSpPr>
        <p:spPr>
          <a:xfrm>
            <a:off x="8274461" y="5112235"/>
            <a:ext cx="2754325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Yes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11127722" y="4932438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6"/>
          <p:cNvSpPr/>
          <p:nvPr/>
        </p:nvSpPr>
        <p:spPr>
          <a:xfrm>
            <a:off x="11127722" y="4932438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6"/>
          <p:cNvSpPr/>
          <p:nvPr/>
        </p:nvSpPr>
        <p:spPr>
          <a:xfrm>
            <a:off x="11326569" y="5112235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Yes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6"/>
          <p:cNvSpPr/>
          <p:nvPr/>
        </p:nvSpPr>
        <p:spPr>
          <a:xfrm>
            <a:off x="14179701" y="4932438"/>
            <a:ext cx="3051979" cy="609874"/>
          </a:xfrm>
          <a:prstGeom prst="rect">
            <a:avLst/>
          </a:prstGeom>
          <a:solidFill>
            <a:srgbClr val="2A7A8A">
              <a:alpha val="70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6"/>
          <p:cNvSpPr/>
          <p:nvPr/>
        </p:nvSpPr>
        <p:spPr>
          <a:xfrm>
            <a:off x="14179701" y="4932438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6"/>
          <p:cNvSpPr/>
          <p:nvPr/>
        </p:nvSpPr>
        <p:spPr>
          <a:xfrm>
            <a:off x="14179701" y="4932438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6"/>
          <p:cNvSpPr/>
          <p:nvPr/>
        </p:nvSpPr>
        <p:spPr>
          <a:xfrm>
            <a:off x="14378548" y="5112235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575"/>
              <a:buFont typeface="Space Grotesk"/>
              <a:buNone/>
            </a:pPr>
            <a:r>
              <a:rPr lang="en-US" sz="1575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No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1056063" y="5595235"/>
            <a:ext cx="3967572" cy="504028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6"/>
          <p:cNvSpPr/>
          <p:nvPr/>
        </p:nvSpPr>
        <p:spPr>
          <a:xfrm>
            <a:off x="1056063" y="5542312"/>
            <a:ext cx="3967572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6"/>
          <p:cNvSpPr/>
          <p:nvPr/>
        </p:nvSpPr>
        <p:spPr>
          <a:xfrm>
            <a:off x="1265613" y="5722109"/>
            <a:ext cx="3667499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50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1A3A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BILLED IN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6"/>
          <p:cNvSpPr/>
          <p:nvPr/>
        </p:nvSpPr>
        <p:spPr>
          <a:xfrm>
            <a:off x="5023635" y="5542312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6"/>
          <p:cNvSpPr/>
          <p:nvPr/>
        </p:nvSpPr>
        <p:spPr>
          <a:xfrm>
            <a:off x="5023635" y="5542312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2" name="Google Shape;542;p16"/>
          <p:cNvSpPr/>
          <p:nvPr/>
        </p:nvSpPr>
        <p:spPr>
          <a:xfrm>
            <a:off x="5222482" y="5722109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USD</a:t>
            </a:r>
            <a:endParaRPr sz="15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6"/>
          <p:cNvSpPr/>
          <p:nvPr/>
        </p:nvSpPr>
        <p:spPr>
          <a:xfrm>
            <a:off x="8075613" y="5542312"/>
            <a:ext cx="305210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6"/>
          <p:cNvSpPr/>
          <p:nvPr/>
        </p:nvSpPr>
        <p:spPr>
          <a:xfrm>
            <a:off x="8075613" y="5542312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6"/>
          <p:cNvSpPr/>
          <p:nvPr/>
        </p:nvSpPr>
        <p:spPr>
          <a:xfrm>
            <a:off x="8274461" y="5722109"/>
            <a:ext cx="2754325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PKR</a:t>
            </a:r>
            <a:endParaRPr sz="15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6"/>
          <p:cNvSpPr/>
          <p:nvPr/>
        </p:nvSpPr>
        <p:spPr>
          <a:xfrm>
            <a:off x="11127722" y="5542312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6"/>
          <p:cNvSpPr/>
          <p:nvPr/>
        </p:nvSpPr>
        <p:spPr>
          <a:xfrm>
            <a:off x="11127722" y="5542312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6"/>
          <p:cNvSpPr/>
          <p:nvPr/>
        </p:nvSpPr>
        <p:spPr>
          <a:xfrm>
            <a:off x="11326569" y="5722109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157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PKR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6"/>
          <p:cNvSpPr/>
          <p:nvPr/>
        </p:nvSpPr>
        <p:spPr>
          <a:xfrm>
            <a:off x="14179701" y="5542312"/>
            <a:ext cx="3051979" cy="609874"/>
          </a:xfrm>
          <a:prstGeom prst="rect">
            <a:avLst/>
          </a:prstGeom>
          <a:solidFill>
            <a:srgbClr val="2A7A8A">
              <a:alpha val="70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6"/>
          <p:cNvSpPr/>
          <p:nvPr/>
        </p:nvSpPr>
        <p:spPr>
          <a:xfrm>
            <a:off x="14179701" y="5542312"/>
            <a:ext cx="3051979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6"/>
          <p:cNvSpPr/>
          <p:nvPr/>
        </p:nvSpPr>
        <p:spPr>
          <a:xfrm>
            <a:off x="14179701" y="5542312"/>
            <a:ext cx="9525" cy="609874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6"/>
          <p:cNvSpPr/>
          <p:nvPr/>
        </p:nvSpPr>
        <p:spPr>
          <a:xfrm>
            <a:off x="14378548" y="5722109"/>
            <a:ext cx="2754191" cy="296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575"/>
              <a:buFont typeface="Space Grotesk"/>
              <a:buNone/>
            </a:pPr>
            <a:r>
              <a:rPr lang="en-US" sz="1575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PKR</a:t>
            </a:r>
            <a:endParaRPr sz="15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6"/>
          <p:cNvSpPr/>
          <p:nvPr/>
        </p:nvSpPr>
        <p:spPr>
          <a:xfrm>
            <a:off x="1047715" y="8915429"/>
            <a:ext cx="16678215" cy="70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939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75"/>
              <a:buFont typeface="Space Grotesk"/>
              <a:buNone/>
            </a:pPr>
            <a:r>
              <a:rPr lang="en-US" sz="1875" b="0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Our wedge is not price. It's the machines nobody instruments and the plants nobody sells to. Epsilon goes deeper and wider — we go the other way: one machine, nothing touched, live in a day.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/>
          <p:nvPr/>
        </p:nvSpPr>
        <p:spPr>
          <a:xfrm>
            <a:off x="18104" y="-34420"/>
            <a:ext cx="18287872" cy="10286993"/>
          </a:xfrm>
          <a:prstGeom prst="rect">
            <a:avLst/>
          </a:prstGeom>
          <a:gradFill>
            <a:gsLst>
              <a:gs pos="0">
                <a:srgbClr val="2A7A8A">
                  <a:alpha val="5098"/>
                </a:srgbClr>
              </a:gs>
              <a:gs pos="100000">
                <a:srgbClr val="2A7A8A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560" name="Google Shape;560;p17"/>
          <p:cNvSpPr/>
          <p:nvPr/>
        </p:nvSpPr>
        <p:spPr>
          <a:xfrm>
            <a:off x="1047715" y="704824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 · CHANNELS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1047715" y="1481242"/>
            <a:ext cx="17811686" cy="60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696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500"/>
              <a:buFont typeface="Space Grotesk"/>
              <a:buNone/>
            </a:pPr>
            <a:r>
              <a:rPr lang="en-US" sz="45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Two motions. Trust is the channel in both.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1047715" y="2912665"/>
            <a:ext cx="7924710" cy="16695"/>
          </a:xfrm>
          <a:prstGeom prst="rect">
            <a:avLst/>
          </a:pr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63" name="Google Shape;563;p17"/>
          <p:cNvSpPr/>
          <p:nvPr/>
        </p:nvSpPr>
        <p:spPr>
          <a:xfrm>
            <a:off x="1047715" y="2598076"/>
            <a:ext cx="8162451" cy="23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200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SME MOTION — RUNNING NOW · MALAIKA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7"/>
          <p:cNvSpPr/>
          <p:nvPr/>
        </p:nvSpPr>
        <p:spPr>
          <a:xfrm>
            <a:off x="1047715" y="3175865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REACH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2209685" y="3100740"/>
            <a:ext cx="6965623" cy="62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Warm introduction — family, </a:t>
            </a:r>
            <a:r>
              <a:rPr lang="en-US" sz="2000" b="0" i="0" u="none" strike="noStrike" cap="none" dirty="0" err="1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biradari</a:t>
            </a: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referral from another owner.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1047715" y="3938860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WIDEN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2209747" y="3863734"/>
            <a:ext cx="6738873" cy="333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Chambers and trade associations — KATI, Karachi Chamber, SITE.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7"/>
          <p:cNvSpPr/>
          <p:nvPr/>
        </p:nvSpPr>
        <p:spPr>
          <a:xfrm>
            <a:off x="1047715" y="4726888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PROVE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7"/>
          <p:cNvSpPr/>
          <p:nvPr/>
        </p:nvSpPr>
        <p:spPr>
          <a:xfrm>
            <a:off x="2209685" y="4651762"/>
            <a:ext cx="6965623" cy="62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Free or discounted first install, 30 days observed. Proof beats a brochure.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1047715" y="5521966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CONVERT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2209685" y="5446841"/>
            <a:ext cx="6848640" cy="333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50,000/yr prepaid. One decision maker, no procurement.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1047715" y="6277910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COMPOUND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2209685" y="6202784"/>
            <a:ext cx="3115287" cy="333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Referral to the next owner.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7"/>
          <p:cNvSpPr/>
          <p:nvPr/>
        </p:nvSpPr>
        <p:spPr>
          <a:xfrm>
            <a:off x="9315316" y="2912665"/>
            <a:ext cx="7924840" cy="1669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75" name="Google Shape;575;p17"/>
          <p:cNvSpPr/>
          <p:nvPr/>
        </p:nvSpPr>
        <p:spPr>
          <a:xfrm>
            <a:off x="9315316" y="2598076"/>
            <a:ext cx="8162585" cy="23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1A3A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ENTERPRISE MOTION — MALAIKA LEADS · ARHAM ON TECH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7"/>
          <p:cNvSpPr/>
          <p:nvPr/>
        </p:nvSpPr>
        <p:spPr>
          <a:xfrm>
            <a:off x="9315316" y="3175865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REACH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10477286" y="3100740"/>
            <a:ext cx="6965758" cy="62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Incubator and institutional introductions, sector associations, named plant directors.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9315316" y="3938860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QUALIFY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7"/>
          <p:cNvSpPr/>
          <p:nvPr/>
        </p:nvSpPr>
        <p:spPr>
          <a:xfrm>
            <a:off x="10477286" y="3863734"/>
            <a:ext cx="6965758" cy="62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Free discovery visit — 90 minutes on their floor, map the critical assets.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7"/>
          <p:cNvSpPr/>
          <p:nvPr/>
        </p:nvSpPr>
        <p:spPr>
          <a:xfrm>
            <a:off x="9315316" y="4701855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DE-RISK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7"/>
          <p:cNvSpPr/>
          <p:nvPr/>
        </p:nvSpPr>
        <p:spPr>
          <a:xfrm>
            <a:off x="10477286" y="4626729"/>
            <a:ext cx="6965758" cy="62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Reference install on their least critical asset, success target agreed in writing.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7"/>
          <p:cNvSpPr/>
          <p:nvPr/>
        </p:nvSpPr>
        <p:spPr>
          <a:xfrm>
            <a:off x="9315316" y="5512975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CONVERT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/>
          <p:nvPr/>
        </p:nvSpPr>
        <p:spPr>
          <a:xfrm>
            <a:off x="10477286" y="5437850"/>
            <a:ext cx="7430837" cy="333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1.7 Cr/plant/yr. Capex cycle and CFO approval — 6–12 months.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7"/>
          <p:cNvSpPr/>
          <p:nvPr/>
        </p:nvSpPr>
        <p:spPr>
          <a:xfrm>
            <a:off x="9315316" y="6268919"/>
            <a:ext cx="1066789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EXPAND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7"/>
          <p:cNvSpPr/>
          <p:nvPr/>
        </p:nvSpPr>
        <p:spPr>
          <a:xfrm>
            <a:off x="10477286" y="6193793"/>
            <a:ext cx="4568773" cy="333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20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72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Next plant, then the sector peer group.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7"/>
          <p:cNvSpPr/>
          <p:nvPr/>
        </p:nvSpPr>
        <p:spPr>
          <a:xfrm>
            <a:off x="1047715" y="8059840"/>
            <a:ext cx="16192442" cy="752300"/>
          </a:xfrm>
          <a:prstGeom prst="roundRect">
            <a:avLst>
              <a:gd name="adj" fmla="val 17726"/>
            </a:avLst>
          </a:prstGeom>
          <a:solidFill>
            <a:srgbClr val="EAF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7"/>
          <p:cNvSpPr/>
          <p:nvPr/>
        </p:nvSpPr>
        <p:spPr>
          <a:xfrm>
            <a:off x="1333465" y="8269390"/>
            <a:ext cx="16106715" cy="3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939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75"/>
              <a:buFont typeface="Space Grotesk"/>
              <a:buNone/>
            </a:pPr>
            <a:r>
              <a:rPr lang="en-US" sz="1875" b="1" i="0" u="none" strike="noStrike" cap="none" dirty="0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bridge: </a:t>
            </a:r>
            <a:r>
              <a:rPr lang="en-US" sz="1875" b="0" i="0" u="none" strike="noStrike" cap="none" dirty="0">
                <a:solidFill>
                  <a:srgbClr val="1A3A5C"/>
                </a:solidFill>
                <a:highlight>
                  <a:srgbClr val="EAF4F7"/>
                </a:highlight>
                <a:latin typeface="Space Grotesk"/>
                <a:ea typeface="Space Grotesk"/>
                <a:cs typeface="Space Grotesk"/>
                <a:sym typeface="Space Grotesk"/>
              </a:rPr>
              <a:t>SME sites are not a side business — they are the reference deployments that make the enterprise conversation possible.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8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1A3A5C">
                  <a:alpha val="5098"/>
                </a:srgbClr>
              </a:gs>
              <a:gs pos="100000">
                <a:srgbClr val="1A3A5C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8"/>
          <p:cNvSpPr/>
          <p:nvPr/>
        </p:nvSpPr>
        <p:spPr>
          <a:xfrm>
            <a:off x="1047715" y="704824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 · REVENUE STREAMS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1047715" y="1080192"/>
            <a:ext cx="17811686" cy="60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696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500"/>
              <a:buFont typeface="Space Grotesk"/>
              <a:buNone/>
            </a:pPr>
            <a:r>
              <a:rPr lang="en-US" sz="45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Subscription. Two tiers, one upgrade path.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8"/>
          <p:cNvSpPr/>
          <p:nvPr/>
        </p:nvSpPr>
        <p:spPr>
          <a:xfrm>
            <a:off x="1047715" y="1956396"/>
            <a:ext cx="7924710" cy="6707570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18"/>
          <p:cNvSpPr/>
          <p:nvPr/>
        </p:nvSpPr>
        <p:spPr>
          <a:xfrm>
            <a:off x="1417996" y="2288593"/>
            <a:ext cx="7902564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STARTER — SME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1417996" y="2643613"/>
            <a:ext cx="7902564" cy="664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3900"/>
              <a:buFont typeface="Space Grotesk"/>
              <a:buNone/>
            </a:pPr>
            <a:r>
              <a:rPr lang="en-US" sz="4800" b="1" i="0" u="none" strike="noStrike" cap="none">
                <a:solidFill>
                  <a:srgbClr val="2A7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50,000 </a:t>
            </a:r>
            <a:r>
              <a:rPr lang="en-US" sz="2400" b="1" i="0" u="none" strike="noStrike" cap="none">
                <a:solidFill>
                  <a:srgbClr val="9C8E75"/>
                </a:solidFill>
                <a:latin typeface="Space Grotesk"/>
                <a:ea typeface="Space Grotesk"/>
                <a:cs typeface="Space Grotesk"/>
                <a:sym typeface="Space Grotesk"/>
              </a:rPr>
              <a:t>/ year / site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1417996" y="3498167"/>
            <a:ext cx="1123915" cy="57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975"/>
              <a:buFont typeface="JetBrains Mono"/>
              <a:buNone/>
            </a:pPr>
            <a:r>
              <a:rPr lang="en-US" sz="1100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COVERS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"/>
          <p:cNvSpPr/>
          <p:nvPr/>
        </p:nvSpPr>
        <p:spPr>
          <a:xfrm>
            <a:off x="2618050" y="3498167"/>
            <a:ext cx="6163618" cy="57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2000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Critical assets at one site — gensets, motors, compressors. Alerts, dashboard, support.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1417996" y="4272486"/>
            <a:ext cx="1123915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975"/>
              <a:buFont typeface="JetBrains Mono"/>
              <a:buNone/>
            </a:pPr>
            <a:r>
              <a:rPr lang="en-US" sz="1100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ONE-TIME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8"/>
          <p:cNvSpPr/>
          <p:nvPr/>
        </p:nvSpPr>
        <p:spPr>
          <a:xfrm>
            <a:off x="2618050" y="4203755"/>
            <a:ext cx="4477670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Hardware Rs 12,000 · </a:t>
            </a:r>
          </a:p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Installation Rs 10,000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8"/>
          <p:cNvSpPr/>
          <p:nvPr/>
        </p:nvSpPr>
        <p:spPr>
          <a:xfrm>
            <a:off x="1417996" y="5036537"/>
            <a:ext cx="1123915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975"/>
              <a:buFont typeface="JetBrains Mono"/>
              <a:buNone/>
            </a:pPr>
            <a:r>
              <a:rPr lang="en-US" sz="1100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DEPLOYMENT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8"/>
          <p:cNvSpPr/>
          <p:nvPr/>
        </p:nvSpPr>
        <p:spPr>
          <a:xfrm>
            <a:off x="2618050" y="4930307"/>
            <a:ext cx="3192761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Cloud-hosted, managed by us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8"/>
          <p:cNvSpPr/>
          <p:nvPr/>
        </p:nvSpPr>
        <p:spPr>
          <a:xfrm>
            <a:off x="1417996" y="5786584"/>
            <a:ext cx="1123915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975"/>
              <a:buFont typeface="JetBrains Mono"/>
              <a:buNone/>
            </a:pPr>
            <a:r>
              <a:rPr lang="en-US" sz="1100" b="0" i="0" u="none" strike="noStrike" cap="none" dirty="0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WHO SIGNS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8"/>
          <p:cNvSpPr/>
          <p:nvPr/>
        </p:nvSpPr>
        <p:spPr>
          <a:xfrm>
            <a:off x="2618050" y="5715918"/>
            <a:ext cx="2464081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57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owner. One person.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8"/>
          <p:cNvSpPr/>
          <p:nvPr/>
        </p:nvSpPr>
        <p:spPr>
          <a:xfrm>
            <a:off x="9315316" y="1956396"/>
            <a:ext cx="7924840" cy="6707570"/>
          </a:xfrm>
          <a:prstGeom prst="roundRect">
            <a:avLst>
              <a:gd name="adj" fmla="val 2272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8"/>
          <p:cNvSpPr/>
          <p:nvPr/>
        </p:nvSpPr>
        <p:spPr>
          <a:xfrm>
            <a:off x="9677250" y="2280245"/>
            <a:ext cx="7921071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125"/>
              <a:buFont typeface="JetBrains Mono"/>
              <a:buNone/>
            </a:pPr>
            <a:r>
              <a:rPr lang="en-US" sz="1600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ENTERPRISE — TEXTILE &amp; FMCG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8"/>
          <p:cNvSpPr/>
          <p:nvPr/>
        </p:nvSpPr>
        <p:spPr>
          <a:xfrm>
            <a:off x="9677250" y="2635266"/>
            <a:ext cx="7921071" cy="664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pace Grotesk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1.7 Cr </a:t>
            </a:r>
            <a:r>
              <a:rPr lang="en-US" sz="2400" b="1" i="0" u="none" strike="noStrike" cap="none">
                <a:solidFill>
                  <a:srgbClr val="8FB4C0"/>
                </a:solidFill>
                <a:latin typeface="Space Grotesk"/>
                <a:ea typeface="Space Grotesk"/>
                <a:cs typeface="Space Grotesk"/>
                <a:sym typeface="Space Grotesk"/>
              </a:rPr>
              <a:t>/ year / plant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8"/>
          <p:cNvSpPr/>
          <p:nvPr/>
        </p:nvSpPr>
        <p:spPr>
          <a:xfrm>
            <a:off x="9677250" y="3489820"/>
            <a:ext cx="1123915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975"/>
              <a:buFont typeface="JetBrains Mono"/>
              <a:buNone/>
            </a:pPr>
            <a:r>
              <a:rPr lang="en-US" sz="1100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COVERS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8"/>
          <p:cNvSpPr/>
          <p:nvPr/>
        </p:nvSpPr>
        <p:spPr>
          <a:xfrm>
            <a:off x="10877304" y="3489820"/>
            <a:ext cx="6145067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57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Full-plant coverage. Alerts, dashboard, reporting, support.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8"/>
          <p:cNvSpPr/>
          <p:nvPr/>
        </p:nvSpPr>
        <p:spPr>
          <a:xfrm>
            <a:off x="9677250" y="4324898"/>
            <a:ext cx="1123915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975"/>
              <a:buFont typeface="JetBrains Mono"/>
              <a:buNone/>
            </a:pPr>
            <a:r>
              <a:rPr lang="en-US" sz="11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ONE-TIME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8"/>
          <p:cNvSpPr/>
          <p:nvPr/>
        </p:nvSpPr>
        <p:spPr>
          <a:xfrm>
            <a:off x="10877304" y="4267680"/>
            <a:ext cx="1403596" cy="27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57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Included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8"/>
          <p:cNvSpPr/>
          <p:nvPr/>
        </p:nvSpPr>
        <p:spPr>
          <a:xfrm>
            <a:off x="9677250" y="4842477"/>
            <a:ext cx="1123915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975"/>
              <a:buFont typeface="JetBrains Mono"/>
              <a:buNone/>
            </a:pPr>
            <a:r>
              <a:rPr lang="en-US" sz="11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DEPLOYMENT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8"/>
          <p:cNvSpPr/>
          <p:nvPr/>
        </p:nvSpPr>
        <p:spPr>
          <a:xfrm>
            <a:off x="10877304" y="4766277"/>
            <a:ext cx="5026583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57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On-premise — sensor data never leaves the site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8"/>
          <p:cNvSpPr/>
          <p:nvPr/>
        </p:nvSpPr>
        <p:spPr>
          <a:xfrm>
            <a:off x="9677250" y="5537856"/>
            <a:ext cx="1123915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975"/>
              <a:buFont typeface="JetBrains Mono"/>
              <a:buNone/>
            </a:pPr>
            <a:r>
              <a:rPr lang="en-US" sz="11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WHO SIGNS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8"/>
          <p:cNvSpPr/>
          <p:nvPr/>
        </p:nvSpPr>
        <p:spPr>
          <a:xfrm>
            <a:off x="10877304" y="5537856"/>
            <a:ext cx="3441680" cy="30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54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575"/>
              <a:buFont typeface="Space Grotesk"/>
              <a:buNone/>
            </a:pPr>
            <a:r>
              <a:rPr lang="en-US" sz="20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Plant director, with CFO approval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8"/>
          <p:cNvSpPr/>
          <p:nvPr/>
        </p:nvSpPr>
        <p:spPr>
          <a:xfrm>
            <a:off x="1047715" y="8968643"/>
            <a:ext cx="16678215" cy="651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8068"/>
              </a:lnSpc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725"/>
              <a:buFont typeface="Space Grotesk"/>
              <a:buNone/>
            </a:pPr>
            <a:r>
              <a:rPr lang="en-US" sz="2400" b="0" i="0" u="none" strike="noStrike" cap="none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Both tiers are annual prepaid subscriptions in rupees — the recurring line is the business. Pre-revenue: every figure is a planning price benchmarked against foreign vendors' published pricing.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9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5FB3C4">
                  <a:alpha val="5882"/>
                </a:srgbClr>
              </a:gs>
              <a:gs pos="100000">
                <a:srgbClr val="5FB3C4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5" name="Google Shape;625;p19"/>
          <p:cNvSpPr/>
          <p:nvPr/>
        </p:nvSpPr>
        <p:spPr>
          <a:xfrm>
            <a:off x="1047715" y="666740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 · COST &amp; FINANCIALS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9"/>
          <p:cNvSpPr/>
          <p:nvPr/>
        </p:nvSpPr>
        <p:spPr>
          <a:xfrm>
            <a:off x="1047715" y="1023065"/>
            <a:ext cx="17811686" cy="590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7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Space Grotesk"/>
              <a:buNone/>
            </a:pPr>
            <a:r>
              <a:rPr lang="en-US" sz="43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43 lac to run Year 1. Most of it is people.</a:t>
            </a:r>
            <a:endParaRPr sz="4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82F94C-1002-526D-D9B9-D0FA482D94C9}"/>
              </a:ext>
            </a:extLst>
          </p:cNvPr>
          <p:cNvGrpSpPr/>
          <p:nvPr/>
        </p:nvGrpSpPr>
        <p:grpSpPr>
          <a:xfrm>
            <a:off x="1047715" y="2156495"/>
            <a:ext cx="7759577" cy="1588260"/>
            <a:chOff x="1047715" y="1861185"/>
            <a:chExt cx="7759577" cy="1312612"/>
          </a:xfrm>
        </p:grpSpPr>
        <p:sp>
          <p:nvSpPr>
            <p:cNvPr id="627" name="Google Shape;627;p19"/>
            <p:cNvSpPr/>
            <p:nvPr/>
          </p:nvSpPr>
          <p:spPr>
            <a:xfrm>
              <a:off x="1047715" y="1861185"/>
              <a:ext cx="7354094" cy="1312612"/>
            </a:xfrm>
            <a:prstGeom prst="roundRect">
              <a:avLst>
                <a:gd name="adj" fmla="val 10159"/>
              </a:avLst>
            </a:prstGeom>
            <a:solidFill>
              <a:srgbClr val="EAF4F7">
                <a:alpha val="5098"/>
              </a:srgbClr>
            </a:solidFill>
            <a:ln w="9525" cap="flat" cmpd="sng">
              <a:solidFill>
                <a:srgbClr val="3356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628" name="Google Shape;628;p19"/>
            <p:cNvSpPr/>
            <p:nvPr/>
          </p:nvSpPr>
          <p:spPr>
            <a:xfrm>
              <a:off x="1322654" y="2098040"/>
              <a:ext cx="7484638" cy="221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1125"/>
                <a:buFont typeface="JetBrains Mono"/>
                <a:buNone/>
              </a:pPr>
              <a:r>
                <a:rPr lang="en-US" sz="1600" b="0" i="0" u="none" strike="noStrike" cap="none">
                  <a:solidFill>
                    <a:srgbClr val="5FB3C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■ OPEX · RS 33 LAC / YR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19"/>
            <p:cNvSpPr/>
            <p:nvPr/>
          </p:nvSpPr>
          <p:spPr>
            <a:xfrm>
              <a:off x="1322654" y="2376891"/>
              <a:ext cx="7008343" cy="598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8219"/>
                </a:lnSpc>
                <a:spcBef>
                  <a:spcPts val="0"/>
                </a:spcBef>
                <a:spcAft>
                  <a:spcPts val="0"/>
                </a:spcAft>
                <a:buClr>
                  <a:srgbClr val="C7D6E0"/>
                </a:buClr>
                <a:buSzPts val="1575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C7D6E0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Stipends 14.4 · engineer 4.8 · technician 1.5 · cloud &amp; WhatsApp API 3.6 · field ops 2.4 · rest 6.3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08DBA0C-6E57-A281-9611-CC5A2C41CCC9}"/>
              </a:ext>
            </a:extLst>
          </p:cNvPr>
          <p:cNvGrpSpPr/>
          <p:nvPr/>
        </p:nvGrpSpPr>
        <p:grpSpPr>
          <a:xfrm>
            <a:off x="1047715" y="3929243"/>
            <a:ext cx="7759577" cy="1588260"/>
            <a:chOff x="1047715" y="3345177"/>
            <a:chExt cx="7759577" cy="1312612"/>
          </a:xfrm>
        </p:grpSpPr>
        <p:sp>
          <p:nvSpPr>
            <p:cNvPr id="630" name="Google Shape;630;p19"/>
            <p:cNvSpPr/>
            <p:nvPr/>
          </p:nvSpPr>
          <p:spPr>
            <a:xfrm>
              <a:off x="1047715" y="3345177"/>
              <a:ext cx="7354094" cy="1312612"/>
            </a:xfrm>
            <a:prstGeom prst="roundRect">
              <a:avLst>
                <a:gd name="adj" fmla="val 10159"/>
              </a:avLst>
            </a:prstGeom>
            <a:solidFill>
              <a:srgbClr val="EAF4F7">
                <a:alpha val="5098"/>
              </a:srgbClr>
            </a:solidFill>
            <a:ln w="9525" cap="flat" cmpd="sng">
              <a:solidFill>
                <a:srgbClr val="3356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631" name="Google Shape;631;p19"/>
            <p:cNvSpPr/>
            <p:nvPr/>
          </p:nvSpPr>
          <p:spPr>
            <a:xfrm>
              <a:off x="1322654" y="3582031"/>
              <a:ext cx="7484638" cy="221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C79A6A"/>
                </a:buClr>
                <a:buSzPts val="1125"/>
                <a:buFont typeface="JetBrains Mono"/>
                <a:buNone/>
              </a:pPr>
              <a:r>
                <a:rPr lang="en-US" sz="1600" b="0" i="0" u="none" strike="noStrike" cap="none">
                  <a:solidFill>
                    <a:srgbClr val="C79A6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■ CAPEX · RS 10 LAC ONE-TIME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19"/>
            <p:cNvSpPr/>
            <p:nvPr/>
          </p:nvSpPr>
          <p:spPr>
            <a:xfrm>
              <a:off x="1304333" y="3860883"/>
              <a:ext cx="6800886" cy="5981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8219"/>
                </a:lnSpc>
                <a:spcBef>
                  <a:spcPts val="0"/>
                </a:spcBef>
                <a:spcAft>
                  <a:spcPts val="0"/>
                </a:spcAft>
                <a:buClr>
                  <a:srgbClr val="C7D6E0"/>
                </a:buClr>
                <a:buSzPts val="1575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C7D6E0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Sensor inventory 3.5 · bench &amp; tools 1.5 · certification 2.0 · registration, legal, IP 1.0 · machines 2.0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C0FC40F-6459-5FC7-61FB-BAFA04189C87}"/>
              </a:ext>
            </a:extLst>
          </p:cNvPr>
          <p:cNvGrpSpPr/>
          <p:nvPr/>
        </p:nvGrpSpPr>
        <p:grpSpPr>
          <a:xfrm>
            <a:off x="1047715" y="5727521"/>
            <a:ext cx="3676670" cy="1372869"/>
            <a:chOff x="1047715" y="4829169"/>
            <a:chExt cx="3676670" cy="1372869"/>
          </a:xfrm>
        </p:grpSpPr>
        <p:sp>
          <p:nvSpPr>
            <p:cNvPr id="633" name="Google Shape;633;p19"/>
            <p:cNvSpPr>
              <a:spLocks/>
            </p:cNvSpPr>
            <p:nvPr/>
          </p:nvSpPr>
          <p:spPr>
            <a:xfrm>
              <a:off x="1047715" y="4829169"/>
              <a:ext cx="3600813" cy="1372869"/>
            </a:xfrm>
            <a:prstGeom prst="roundRect">
              <a:avLst>
                <a:gd name="adj" fmla="val 9713"/>
              </a:avLst>
            </a:prstGeom>
            <a:solidFill>
              <a:srgbClr val="EAF4F7">
                <a:alpha val="5098"/>
              </a:srgbClr>
            </a:solidFill>
            <a:ln w="9525" cap="flat" cmpd="sng">
              <a:solidFill>
                <a:srgbClr val="3356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9CA0A07-3BDB-585B-F005-9F316C6C6332}"/>
                </a:ext>
              </a:extLst>
            </p:cNvPr>
            <p:cNvGrpSpPr/>
            <p:nvPr/>
          </p:nvGrpSpPr>
          <p:grpSpPr>
            <a:xfrm>
              <a:off x="1259760" y="5046981"/>
              <a:ext cx="3464625" cy="758315"/>
              <a:chOff x="1259760" y="5046981"/>
              <a:chExt cx="3464625" cy="758315"/>
            </a:xfrm>
          </p:grpSpPr>
          <p:sp>
            <p:nvSpPr>
              <p:cNvPr id="634" name="Google Shape;634;p19"/>
              <p:cNvSpPr/>
              <p:nvPr/>
            </p:nvSpPr>
            <p:spPr>
              <a:xfrm>
                <a:off x="1259760" y="5046981"/>
                <a:ext cx="1025368" cy="522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000"/>
                  <a:buFont typeface="Space Grotesk"/>
                  <a:buNone/>
                </a:pPr>
                <a:r>
                  <a:rPr lang="en-US" sz="3600" b="1" i="0" u="none" strike="noStrike" cap="none" dirty="0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60%</a:t>
                </a:r>
                <a:endParaRPr sz="3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19"/>
              <p:cNvSpPr/>
              <p:nvPr/>
            </p:nvSpPr>
            <p:spPr>
              <a:xfrm>
                <a:off x="1284570" y="5550166"/>
                <a:ext cx="3439815" cy="2551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8FB4C0"/>
                  </a:buClr>
                  <a:buSzPts val="1350"/>
                  <a:buFont typeface="Space Grotesk"/>
                  <a:buNone/>
                </a:pPr>
                <a:r>
                  <a:rPr lang="en-US" sz="1600" b="0" i="0" u="none" strike="noStrike" cap="none" dirty="0">
                    <a:solidFill>
                      <a:srgbClr val="8FB4C0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is people</a:t>
                </a:r>
                <a:endParaRPr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F9B60C-1D7A-0ED6-47DC-7A2DB25897B3}"/>
              </a:ext>
            </a:extLst>
          </p:cNvPr>
          <p:cNvGrpSpPr/>
          <p:nvPr/>
        </p:nvGrpSpPr>
        <p:grpSpPr>
          <a:xfrm>
            <a:off x="4800866" y="5725881"/>
            <a:ext cx="3600943" cy="1372869"/>
            <a:chOff x="4800866" y="4827529"/>
            <a:chExt cx="3600943" cy="1372869"/>
          </a:xfrm>
        </p:grpSpPr>
        <p:sp>
          <p:nvSpPr>
            <p:cNvPr id="637" name="Google Shape;637;p19"/>
            <p:cNvSpPr/>
            <p:nvPr/>
          </p:nvSpPr>
          <p:spPr>
            <a:xfrm>
              <a:off x="5011555" y="5046981"/>
              <a:ext cx="1040992" cy="522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3000"/>
                <a:buFont typeface="Space Grotesk"/>
                <a:buNone/>
              </a:pPr>
              <a:r>
                <a:rPr lang="en-US" sz="3600" b="1" i="0" u="none" strike="noStrike" cap="none" dirty="0">
                  <a:solidFill>
                    <a:srgbClr val="5FB3C4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Rs 0</a:t>
              </a:r>
              <a:endParaRPr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FC91E29-A897-1315-D9F0-4859D8347F7E}"/>
                </a:ext>
              </a:extLst>
            </p:cNvPr>
            <p:cNvGrpSpPr/>
            <p:nvPr/>
          </p:nvGrpSpPr>
          <p:grpSpPr>
            <a:xfrm>
              <a:off x="4800866" y="4827529"/>
              <a:ext cx="3600943" cy="1372869"/>
              <a:chOff x="4800866" y="4827529"/>
              <a:chExt cx="3600943" cy="1372869"/>
            </a:xfrm>
          </p:grpSpPr>
          <p:sp>
            <p:nvSpPr>
              <p:cNvPr id="636" name="Google Shape;636;p19"/>
              <p:cNvSpPr/>
              <p:nvPr/>
            </p:nvSpPr>
            <p:spPr>
              <a:xfrm>
                <a:off x="4800866" y="4827529"/>
                <a:ext cx="3600943" cy="1372869"/>
              </a:xfrm>
              <a:prstGeom prst="roundRect">
                <a:avLst>
                  <a:gd name="adj" fmla="val 9713"/>
                </a:avLst>
              </a:prstGeom>
              <a:solidFill>
                <a:srgbClr val="EAF4F7">
                  <a:alpha val="5098"/>
                </a:srgbClr>
              </a:solidFill>
              <a:ln w="9525" cap="flat" cmpd="sng">
                <a:solidFill>
                  <a:srgbClr val="3356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/>
              </a:p>
            </p:txBody>
          </p:sp>
          <p:sp>
            <p:nvSpPr>
              <p:cNvPr id="638" name="Google Shape;638;p19"/>
              <p:cNvSpPr/>
              <p:nvPr/>
            </p:nvSpPr>
            <p:spPr>
              <a:xfrm>
                <a:off x="5037721" y="5550166"/>
                <a:ext cx="3221051" cy="4721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8FB4C0"/>
                  </a:buClr>
                  <a:buSzPts val="1350"/>
                  <a:buFont typeface="Space Grotesk"/>
                  <a:buNone/>
                </a:pPr>
                <a:r>
                  <a:rPr lang="en-US" sz="1600" b="0" i="0" u="none" strike="noStrike" cap="none" dirty="0">
                    <a:solidFill>
                      <a:srgbClr val="8FB4C0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paid acquisition — channel is warm intros</a:t>
                </a:r>
                <a:endParaRPr sz="16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E7188C-7438-4F2F-8FD4-AF6852FAABC4}"/>
              </a:ext>
            </a:extLst>
          </p:cNvPr>
          <p:cNvGrpSpPr/>
          <p:nvPr/>
        </p:nvGrpSpPr>
        <p:grpSpPr>
          <a:xfrm>
            <a:off x="8676748" y="2438132"/>
            <a:ext cx="8457242" cy="3765806"/>
            <a:chOff x="8782785" y="1861185"/>
            <a:chExt cx="8457242" cy="3765806"/>
          </a:xfrm>
        </p:grpSpPr>
        <p:sp>
          <p:nvSpPr>
            <p:cNvPr id="639" name="Google Shape;639;p19"/>
            <p:cNvSpPr/>
            <p:nvPr/>
          </p:nvSpPr>
          <p:spPr>
            <a:xfrm>
              <a:off x="8782785" y="2150732"/>
              <a:ext cx="8457241" cy="9525"/>
            </a:xfrm>
            <a:prstGeom prst="rect">
              <a:avLst/>
            </a:prstGeom>
            <a:solidFill>
              <a:srgbClr val="335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0" name="Google Shape;640;p19"/>
            <p:cNvSpPr/>
            <p:nvPr/>
          </p:nvSpPr>
          <p:spPr>
            <a:xfrm>
              <a:off x="8782785" y="1861185"/>
              <a:ext cx="3986862" cy="2133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105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5FB3C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FORECAST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9"/>
            <p:cNvSpPr/>
            <p:nvPr/>
          </p:nvSpPr>
          <p:spPr>
            <a:xfrm>
              <a:off x="12165564" y="1861185"/>
              <a:ext cx="2658052" cy="2133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105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5FB3C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2026 PT YR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19"/>
            <p:cNvSpPr/>
            <p:nvPr/>
          </p:nvSpPr>
          <p:spPr>
            <a:xfrm>
              <a:off x="14581975" y="1861185"/>
              <a:ext cx="2658052" cy="2133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1050"/>
                <a:buFont typeface="JetBrains Mono"/>
                <a:buNone/>
              </a:pPr>
              <a:r>
                <a:rPr lang="en-US" sz="1200" b="0" i="0" u="none" strike="noStrike" cap="none">
                  <a:solidFill>
                    <a:srgbClr val="5FB3C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2027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19"/>
            <p:cNvSpPr/>
            <p:nvPr/>
          </p:nvSpPr>
          <p:spPr>
            <a:xfrm>
              <a:off x="8782785" y="2728521"/>
              <a:ext cx="8457241" cy="9525"/>
            </a:xfrm>
            <a:prstGeom prst="rect">
              <a:avLst/>
            </a:prstGeom>
            <a:solidFill>
              <a:srgbClr val="33566A">
                <a:alpha val="5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4" name="Google Shape;644;p19"/>
            <p:cNvSpPr/>
            <p:nvPr/>
          </p:nvSpPr>
          <p:spPr>
            <a:xfrm>
              <a:off x="8782785" y="2301896"/>
              <a:ext cx="398686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EAF4F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SME subscription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9"/>
            <p:cNvSpPr/>
            <p:nvPr/>
          </p:nvSpPr>
          <p:spPr>
            <a:xfrm>
              <a:off x="12165564" y="2301896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 dirty="0">
                  <a:solidFill>
                    <a:srgbClr val="EAF4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0.4 lac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9"/>
            <p:cNvSpPr/>
            <p:nvPr/>
          </p:nvSpPr>
          <p:spPr>
            <a:xfrm>
              <a:off x="14581975" y="2301896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EAF4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10.4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19"/>
            <p:cNvSpPr/>
            <p:nvPr/>
          </p:nvSpPr>
          <p:spPr>
            <a:xfrm>
              <a:off x="8782785" y="3306310"/>
              <a:ext cx="8457241" cy="9525"/>
            </a:xfrm>
            <a:prstGeom prst="rect">
              <a:avLst/>
            </a:prstGeom>
            <a:solidFill>
              <a:srgbClr val="33566A">
                <a:alpha val="5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8" name="Google Shape;648;p19"/>
            <p:cNvSpPr/>
            <p:nvPr/>
          </p:nvSpPr>
          <p:spPr>
            <a:xfrm>
              <a:off x="8782785" y="2879685"/>
              <a:ext cx="398686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>
                  <a:solidFill>
                    <a:srgbClr val="EAF4F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Hardware &amp; installation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19"/>
            <p:cNvSpPr/>
            <p:nvPr/>
          </p:nvSpPr>
          <p:spPr>
            <a:xfrm>
              <a:off x="12165564" y="2879685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EAF4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0.7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19"/>
            <p:cNvSpPr/>
            <p:nvPr/>
          </p:nvSpPr>
          <p:spPr>
            <a:xfrm>
              <a:off x="14581975" y="2879685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EAF4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5.1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19"/>
            <p:cNvSpPr/>
            <p:nvPr/>
          </p:nvSpPr>
          <p:spPr>
            <a:xfrm>
              <a:off x="8782785" y="3884099"/>
              <a:ext cx="8457241" cy="9525"/>
            </a:xfrm>
            <a:prstGeom prst="rect">
              <a:avLst/>
            </a:prstGeom>
            <a:solidFill>
              <a:srgbClr val="33566A">
                <a:alpha val="5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2" name="Google Shape;652;p19"/>
            <p:cNvSpPr/>
            <p:nvPr/>
          </p:nvSpPr>
          <p:spPr>
            <a:xfrm>
              <a:off x="8782785" y="3457474"/>
              <a:ext cx="398686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 dirty="0">
                  <a:solidFill>
                    <a:srgbClr val="EAF4F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Enterprise subscription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19"/>
            <p:cNvSpPr/>
            <p:nvPr/>
          </p:nvSpPr>
          <p:spPr>
            <a:xfrm>
              <a:off x="12165564" y="3457474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EAF4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—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19"/>
            <p:cNvSpPr/>
            <p:nvPr/>
          </p:nvSpPr>
          <p:spPr>
            <a:xfrm>
              <a:off x="14581975" y="3457474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EAF4F7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EAF4F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42.5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19"/>
            <p:cNvSpPr/>
            <p:nvPr/>
          </p:nvSpPr>
          <p:spPr>
            <a:xfrm>
              <a:off x="8782785" y="4461888"/>
              <a:ext cx="8457241" cy="9525"/>
            </a:xfrm>
            <a:prstGeom prst="rect">
              <a:avLst/>
            </a:prstGeom>
            <a:solidFill>
              <a:srgbClr val="33566A">
                <a:alpha val="5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6" name="Google Shape;656;p19"/>
            <p:cNvSpPr/>
            <p:nvPr/>
          </p:nvSpPr>
          <p:spPr>
            <a:xfrm>
              <a:off x="8782785" y="4035263"/>
              <a:ext cx="398686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Total revenue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19"/>
            <p:cNvSpPr/>
            <p:nvPr/>
          </p:nvSpPr>
          <p:spPr>
            <a:xfrm>
              <a:off x="12165564" y="4035263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1.1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19"/>
            <p:cNvSpPr/>
            <p:nvPr/>
          </p:nvSpPr>
          <p:spPr>
            <a:xfrm>
              <a:off x="14581975" y="4035263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50"/>
                <a:buFont typeface="JetBrains Mono"/>
                <a:buNone/>
              </a:pPr>
              <a:r>
                <a:rPr lang="en-US" sz="2000" b="1" i="0" u="none" strike="noStrike" cap="none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58.0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19"/>
            <p:cNvSpPr/>
            <p:nvPr/>
          </p:nvSpPr>
          <p:spPr>
            <a:xfrm>
              <a:off x="8782785" y="5039677"/>
              <a:ext cx="8457241" cy="9525"/>
            </a:xfrm>
            <a:prstGeom prst="rect">
              <a:avLst/>
            </a:prstGeom>
            <a:solidFill>
              <a:srgbClr val="33566A">
                <a:alpha val="5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0" name="Google Shape;660;p19"/>
            <p:cNvSpPr/>
            <p:nvPr/>
          </p:nvSpPr>
          <p:spPr>
            <a:xfrm>
              <a:off x="8782785" y="4613052"/>
              <a:ext cx="398686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B9CAD6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>
                  <a:solidFill>
                    <a:srgbClr val="B9CAD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Cost of delivery + OPEX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19"/>
            <p:cNvSpPr/>
            <p:nvPr/>
          </p:nvSpPr>
          <p:spPr>
            <a:xfrm>
              <a:off x="12165564" y="4613052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B9CAD6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B9CA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11.6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19"/>
            <p:cNvSpPr/>
            <p:nvPr/>
          </p:nvSpPr>
          <p:spPr>
            <a:xfrm>
              <a:off x="14581975" y="4613052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B9CAD6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B9CAD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46.7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19"/>
            <p:cNvSpPr/>
            <p:nvPr/>
          </p:nvSpPr>
          <p:spPr>
            <a:xfrm>
              <a:off x="8782785" y="5617466"/>
              <a:ext cx="8457241" cy="9525"/>
            </a:xfrm>
            <a:prstGeom prst="rect">
              <a:avLst/>
            </a:prstGeom>
            <a:solidFill>
              <a:srgbClr val="33566A">
                <a:alpha val="5019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4" name="Google Shape;664;p19"/>
            <p:cNvSpPr/>
            <p:nvPr/>
          </p:nvSpPr>
          <p:spPr>
            <a:xfrm>
              <a:off x="8782785" y="5190841"/>
              <a:ext cx="398686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1650"/>
                <a:buFont typeface="Space Grotesk"/>
                <a:buNone/>
              </a:pPr>
              <a:r>
                <a:rPr lang="en-US" sz="2000" b="0" i="0" u="none" strike="noStrike" cap="none">
                  <a:solidFill>
                    <a:srgbClr val="5FB3C4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Net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19"/>
            <p:cNvSpPr/>
            <p:nvPr/>
          </p:nvSpPr>
          <p:spPr>
            <a:xfrm>
              <a:off x="12165564" y="5190841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1650"/>
                <a:buFont typeface="JetBrains Mono"/>
                <a:buNone/>
              </a:pPr>
              <a:r>
                <a:rPr lang="en-US" sz="2000" b="0" i="0" u="none" strike="noStrike" cap="none">
                  <a:solidFill>
                    <a:srgbClr val="5FB3C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−Rs 10.5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9"/>
            <p:cNvSpPr/>
            <p:nvPr/>
          </p:nvSpPr>
          <p:spPr>
            <a:xfrm>
              <a:off x="14581975" y="5190841"/>
              <a:ext cx="2658052" cy="321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5FB3C4"/>
                </a:buClr>
                <a:buSzPts val="1650"/>
                <a:buFont typeface="JetBrains Mono"/>
                <a:buNone/>
              </a:pPr>
              <a:r>
                <a:rPr lang="en-US" sz="2000" b="1" i="0" u="none" strike="noStrike" cap="none">
                  <a:solidFill>
                    <a:srgbClr val="5FB3C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+Rs 11.3 lac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7" name="Google Shape;667;p19"/>
          <p:cNvSpPr/>
          <p:nvPr/>
        </p:nvSpPr>
        <p:spPr>
          <a:xfrm>
            <a:off x="1047715" y="8652750"/>
            <a:ext cx="16192442" cy="967503"/>
          </a:xfrm>
          <a:custGeom>
            <a:avLst/>
            <a:gdLst/>
            <a:ahLst/>
            <a:cxnLst/>
            <a:rect l="l" t="t" r="r" b="b"/>
            <a:pathLst>
              <a:path w="16192442" h="967503" extrusionOk="0">
                <a:moveTo>
                  <a:pt x="0" y="0"/>
                </a:moveTo>
                <a:lnTo>
                  <a:pt x="16078142" y="0"/>
                </a:lnTo>
                <a:cubicBezTo>
                  <a:pt x="16108456" y="0"/>
                  <a:pt x="16137529" y="12042"/>
                  <a:pt x="16158964" y="33478"/>
                </a:cubicBezTo>
                <a:cubicBezTo>
                  <a:pt x="16180400" y="54913"/>
                  <a:pt x="16192442" y="83986"/>
                  <a:pt x="16192442" y="114300"/>
                </a:cubicBezTo>
                <a:lnTo>
                  <a:pt x="16192442" y="853203"/>
                </a:lnTo>
                <a:cubicBezTo>
                  <a:pt x="16192442" y="916329"/>
                  <a:pt x="16141268" y="967503"/>
                  <a:pt x="16078142" y="967503"/>
                </a:cubicBezTo>
                <a:lnTo>
                  <a:pt x="0" y="967503"/>
                </a:lnTo>
                <a:lnTo>
                  <a:pt x="0" y="0"/>
                </a:lnTo>
                <a:close/>
              </a:path>
            </a:pathLst>
          </a:custGeom>
          <a:solidFill>
            <a:srgbClr val="9E3B2E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19"/>
          <p:cNvSpPr/>
          <p:nvPr/>
        </p:nvSpPr>
        <p:spPr>
          <a:xfrm>
            <a:off x="1047715" y="8652750"/>
            <a:ext cx="25042" cy="967503"/>
          </a:xfrm>
          <a:prstGeom prst="rect">
            <a:avLst/>
          </a:prstGeom>
          <a:solidFill>
            <a:srgbClr val="9E3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19"/>
          <p:cNvSpPr/>
          <p:nvPr/>
        </p:nvSpPr>
        <p:spPr>
          <a:xfrm>
            <a:off x="1339457" y="8843250"/>
            <a:ext cx="16119773" cy="62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83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pace Grotesk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honest read: </a:t>
            </a:r>
            <a:r>
              <a:rPr lang="en-US" sz="2000" b="0" i="0" u="none" strike="noStrike" cap="none" dirty="0">
                <a:solidFill>
                  <a:srgbClr val="E7D2C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strip out the single enterprise contract and 2027 nets −Rs 37 lac. The SME tier funds learning and builds the reference sites; the enterprise contract is what turns the model. We are not pretending otherwise.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0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2A7A8A">
                  <a:alpha val="5098"/>
                </a:srgbClr>
              </a:gs>
              <a:gs pos="100000">
                <a:srgbClr val="2A7A8A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20"/>
          <p:cNvSpPr/>
          <p:nvPr/>
        </p:nvSpPr>
        <p:spPr>
          <a:xfrm>
            <a:off x="1047715" y="704824"/>
            <a:ext cx="17811686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 · KEY METRICS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0"/>
          <p:cNvSpPr/>
          <p:nvPr/>
        </p:nvSpPr>
        <p:spPr>
          <a:xfrm>
            <a:off x="1047715" y="1080192"/>
            <a:ext cx="17811686" cy="60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696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4500"/>
              <a:buFont typeface="Space Grotesk"/>
              <a:buNone/>
            </a:pPr>
            <a:r>
              <a:rPr lang="en-US" sz="450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Three numbers we manage against.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0"/>
          <p:cNvSpPr/>
          <p:nvPr/>
        </p:nvSpPr>
        <p:spPr>
          <a:xfrm>
            <a:off x="1047715" y="1956396"/>
            <a:ext cx="9245539" cy="7027768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20"/>
          <p:cNvSpPr/>
          <p:nvPr/>
        </p:nvSpPr>
        <p:spPr>
          <a:xfrm>
            <a:off x="1379912" y="2250378"/>
            <a:ext cx="3845975" cy="380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950"/>
              <a:buFont typeface="Space Grotesk"/>
              <a:buNone/>
            </a:pPr>
            <a:r>
              <a:rPr lang="en-US" sz="19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Sites live · current → forecast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0"/>
          <p:cNvSpPr/>
          <p:nvPr/>
        </p:nvSpPr>
        <p:spPr>
          <a:xfrm>
            <a:off x="8597058" y="2375587"/>
            <a:ext cx="1500400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125"/>
              <a:buFont typeface="JetBrains Mono"/>
              <a:buNone/>
            </a:pPr>
            <a:r>
              <a:rPr lang="en-US" sz="1125" b="0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→ 30 + 1 plant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0"/>
          <p:cNvSpPr/>
          <p:nvPr/>
        </p:nvSpPr>
        <p:spPr>
          <a:xfrm>
            <a:off x="1952744" y="7315488"/>
            <a:ext cx="201931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0C0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9BB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0"/>
          <p:cNvSpPr/>
          <p:nvPr/>
        </p:nvSpPr>
        <p:spPr>
          <a:xfrm>
            <a:off x="1379912" y="7694507"/>
            <a:ext cx="1271397" cy="228507"/>
          </a:xfrm>
          <a:custGeom>
            <a:avLst/>
            <a:gdLst/>
            <a:ahLst/>
            <a:cxnLst/>
            <a:rect l="l" t="t" r="r" b="b"/>
            <a:pathLst>
              <a:path w="1271397" h="228507" extrusionOk="0">
                <a:moveTo>
                  <a:pt x="57150" y="0"/>
                </a:moveTo>
                <a:lnTo>
                  <a:pt x="1214247" y="0"/>
                </a:lnTo>
                <a:cubicBezTo>
                  <a:pt x="1229404" y="0"/>
                  <a:pt x="1243940" y="6021"/>
                  <a:pt x="1254658" y="16739"/>
                </a:cubicBezTo>
                <a:cubicBezTo>
                  <a:pt x="1265376" y="27457"/>
                  <a:pt x="1271397" y="41993"/>
                  <a:pt x="1271397" y="57150"/>
                </a:cubicBezTo>
                <a:lnTo>
                  <a:pt x="1271397" y="228507"/>
                </a:lnTo>
                <a:lnTo>
                  <a:pt x="0" y="228507"/>
                </a:ln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9BB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20"/>
          <p:cNvSpPr/>
          <p:nvPr/>
        </p:nvSpPr>
        <p:spPr>
          <a:xfrm>
            <a:off x="1815536" y="8018226"/>
            <a:ext cx="476218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Q3 26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0"/>
          <p:cNvSpPr/>
          <p:nvPr/>
        </p:nvSpPr>
        <p:spPr>
          <a:xfrm>
            <a:off x="3414564" y="7143977"/>
            <a:ext cx="201931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0C0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9BB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0"/>
          <p:cNvSpPr/>
          <p:nvPr/>
        </p:nvSpPr>
        <p:spPr>
          <a:xfrm>
            <a:off x="2841731" y="7522997"/>
            <a:ext cx="1271527" cy="400018"/>
          </a:xfrm>
          <a:custGeom>
            <a:avLst/>
            <a:gdLst/>
            <a:ahLst/>
            <a:cxnLst/>
            <a:rect l="l" t="t" r="r" b="b"/>
            <a:pathLst>
              <a:path w="1271527" h="400018" extrusionOk="0">
                <a:moveTo>
                  <a:pt x="57150" y="0"/>
                </a:moveTo>
                <a:lnTo>
                  <a:pt x="1214377" y="0"/>
                </a:lnTo>
                <a:cubicBezTo>
                  <a:pt x="1229534" y="0"/>
                  <a:pt x="1244070" y="6021"/>
                  <a:pt x="1254788" y="16739"/>
                </a:cubicBezTo>
                <a:cubicBezTo>
                  <a:pt x="1265506" y="27457"/>
                  <a:pt x="1271527" y="41993"/>
                  <a:pt x="1271527" y="57150"/>
                </a:cubicBezTo>
                <a:lnTo>
                  <a:pt x="1271527" y="400018"/>
                </a:lnTo>
                <a:lnTo>
                  <a:pt x="0" y="400018"/>
                </a:ln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9BB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0"/>
          <p:cNvSpPr/>
          <p:nvPr/>
        </p:nvSpPr>
        <p:spPr>
          <a:xfrm>
            <a:off x="3277486" y="8018226"/>
            <a:ext cx="476218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Q4 26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0"/>
          <p:cNvSpPr/>
          <p:nvPr/>
        </p:nvSpPr>
        <p:spPr>
          <a:xfrm>
            <a:off x="4876514" y="6924991"/>
            <a:ext cx="201931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0C0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9BB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0"/>
          <p:cNvSpPr/>
          <p:nvPr/>
        </p:nvSpPr>
        <p:spPr>
          <a:xfrm>
            <a:off x="4303681" y="7304011"/>
            <a:ext cx="1271527" cy="619004"/>
          </a:xfrm>
          <a:custGeom>
            <a:avLst/>
            <a:gdLst/>
            <a:ahLst/>
            <a:cxnLst/>
            <a:rect l="l" t="t" r="r" b="b"/>
            <a:pathLst>
              <a:path w="1271527" h="619004" extrusionOk="0">
                <a:moveTo>
                  <a:pt x="57150" y="0"/>
                </a:moveTo>
                <a:lnTo>
                  <a:pt x="1214377" y="0"/>
                </a:lnTo>
                <a:cubicBezTo>
                  <a:pt x="1229534" y="0"/>
                  <a:pt x="1244070" y="6021"/>
                  <a:pt x="1254788" y="16739"/>
                </a:cubicBezTo>
                <a:cubicBezTo>
                  <a:pt x="1265506" y="27457"/>
                  <a:pt x="1271527" y="41993"/>
                  <a:pt x="1271527" y="57150"/>
                </a:cubicBezTo>
                <a:lnTo>
                  <a:pt x="1271527" y="619004"/>
                </a:lnTo>
                <a:lnTo>
                  <a:pt x="0" y="619004"/>
                </a:ln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9BB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0"/>
          <p:cNvSpPr/>
          <p:nvPr/>
        </p:nvSpPr>
        <p:spPr>
          <a:xfrm>
            <a:off x="4739436" y="8018226"/>
            <a:ext cx="476218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Q1 27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0"/>
          <p:cNvSpPr/>
          <p:nvPr/>
        </p:nvSpPr>
        <p:spPr>
          <a:xfrm>
            <a:off x="6275598" y="6648748"/>
            <a:ext cx="327662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0C0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9BB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0"/>
          <p:cNvSpPr/>
          <p:nvPr/>
        </p:nvSpPr>
        <p:spPr>
          <a:xfrm>
            <a:off x="5765631" y="7027768"/>
            <a:ext cx="1271527" cy="895247"/>
          </a:xfrm>
          <a:custGeom>
            <a:avLst/>
            <a:gdLst/>
            <a:ahLst/>
            <a:cxnLst/>
            <a:rect l="l" t="t" r="r" b="b"/>
            <a:pathLst>
              <a:path w="1271527" h="895247" extrusionOk="0">
                <a:moveTo>
                  <a:pt x="57150" y="0"/>
                </a:moveTo>
                <a:lnTo>
                  <a:pt x="1214377" y="0"/>
                </a:lnTo>
                <a:cubicBezTo>
                  <a:pt x="1229534" y="0"/>
                  <a:pt x="1244070" y="6021"/>
                  <a:pt x="1254788" y="16739"/>
                </a:cubicBezTo>
                <a:cubicBezTo>
                  <a:pt x="1265506" y="27457"/>
                  <a:pt x="1271527" y="41993"/>
                  <a:pt x="1271527" y="57150"/>
                </a:cubicBezTo>
                <a:lnTo>
                  <a:pt x="1271527" y="895247"/>
                </a:lnTo>
                <a:lnTo>
                  <a:pt x="0" y="895247"/>
                </a:ln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9BB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20"/>
          <p:cNvSpPr/>
          <p:nvPr/>
        </p:nvSpPr>
        <p:spPr>
          <a:xfrm>
            <a:off x="6201385" y="8018226"/>
            <a:ext cx="476218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Q2 27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0"/>
          <p:cNvSpPr/>
          <p:nvPr/>
        </p:nvSpPr>
        <p:spPr>
          <a:xfrm>
            <a:off x="7737548" y="6200994"/>
            <a:ext cx="327662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B0C0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9BB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0"/>
          <p:cNvSpPr/>
          <p:nvPr/>
        </p:nvSpPr>
        <p:spPr>
          <a:xfrm>
            <a:off x="7227580" y="6580013"/>
            <a:ext cx="1271527" cy="1343001"/>
          </a:xfrm>
          <a:custGeom>
            <a:avLst/>
            <a:gdLst/>
            <a:ahLst/>
            <a:cxnLst/>
            <a:rect l="l" t="t" r="r" b="b"/>
            <a:pathLst>
              <a:path w="1271527" h="1343001" extrusionOk="0">
                <a:moveTo>
                  <a:pt x="57150" y="0"/>
                </a:moveTo>
                <a:lnTo>
                  <a:pt x="1214377" y="0"/>
                </a:lnTo>
                <a:cubicBezTo>
                  <a:pt x="1229534" y="0"/>
                  <a:pt x="1244070" y="6021"/>
                  <a:pt x="1254788" y="16739"/>
                </a:cubicBezTo>
                <a:cubicBezTo>
                  <a:pt x="1265506" y="27457"/>
                  <a:pt x="1271527" y="41993"/>
                  <a:pt x="1271527" y="57150"/>
                </a:cubicBezTo>
                <a:lnTo>
                  <a:pt x="1271527" y="1343001"/>
                </a:lnTo>
                <a:lnTo>
                  <a:pt x="0" y="1343001"/>
                </a:ln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9BB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0"/>
          <p:cNvSpPr/>
          <p:nvPr/>
        </p:nvSpPr>
        <p:spPr>
          <a:xfrm>
            <a:off x="7663335" y="8018226"/>
            <a:ext cx="476218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Q3 27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0"/>
          <p:cNvSpPr/>
          <p:nvPr/>
        </p:nvSpPr>
        <p:spPr>
          <a:xfrm>
            <a:off x="9199498" y="5639117"/>
            <a:ext cx="327662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650"/>
              <a:buFont typeface="JetBrains Mono"/>
              <a:buNone/>
            </a:pPr>
            <a:r>
              <a:rPr lang="en-US" sz="1650" b="1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0"/>
          <p:cNvSpPr/>
          <p:nvPr/>
        </p:nvSpPr>
        <p:spPr>
          <a:xfrm>
            <a:off x="8689531" y="6018136"/>
            <a:ext cx="1271527" cy="1904878"/>
          </a:xfrm>
          <a:custGeom>
            <a:avLst/>
            <a:gdLst/>
            <a:ahLst/>
            <a:cxnLst/>
            <a:rect l="l" t="t" r="r" b="b"/>
            <a:pathLst>
              <a:path w="1271527" h="1904878" extrusionOk="0">
                <a:moveTo>
                  <a:pt x="57150" y="0"/>
                </a:moveTo>
                <a:lnTo>
                  <a:pt x="1214377" y="0"/>
                </a:lnTo>
                <a:cubicBezTo>
                  <a:pt x="1229534" y="0"/>
                  <a:pt x="1244070" y="6021"/>
                  <a:pt x="1254788" y="16739"/>
                </a:cubicBezTo>
                <a:cubicBezTo>
                  <a:pt x="1265506" y="27457"/>
                  <a:pt x="1271527" y="41993"/>
                  <a:pt x="1271527" y="57150"/>
                </a:cubicBezTo>
                <a:lnTo>
                  <a:pt x="1271527" y="1904878"/>
                </a:lnTo>
                <a:lnTo>
                  <a:pt x="0" y="1904878"/>
                </a:ln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A7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20"/>
          <p:cNvSpPr/>
          <p:nvPr/>
        </p:nvSpPr>
        <p:spPr>
          <a:xfrm>
            <a:off x="9125285" y="8018226"/>
            <a:ext cx="476218" cy="21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050"/>
              <a:buFont typeface="JetBrains Mono"/>
              <a:buNone/>
            </a:pPr>
            <a:r>
              <a:rPr lang="en-US" sz="1050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Q4 27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0"/>
          <p:cNvSpPr/>
          <p:nvPr/>
        </p:nvSpPr>
        <p:spPr>
          <a:xfrm>
            <a:off x="1379912" y="8364899"/>
            <a:ext cx="8581146" cy="9525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20"/>
          <p:cNvSpPr/>
          <p:nvPr/>
        </p:nvSpPr>
        <p:spPr>
          <a:xfrm>
            <a:off x="1379912" y="8506542"/>
            <a:ext cx="761852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125"/>
              <a:buFont typeface="JetBrains Mono"/>
              <a:buNone/>
            </a:pPr>
            <a:r>
              <a:rPr lang="en-US" sz="1125" b="0" i="0" u="none" strike="noStrike" cap="none">
                <a:solidFill>
                  <a:srgbClr val="8B73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QRR Rs 0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0"/>
          <p:cNvSpPr/>
          <p:nvPr/>
        </p:nvSpPr>
        <p:spPr>
          <a:xfrm>
            <a:off x="7990054" y="8506542"/>
            <a:ext cx="2168105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1125"/>
              <a:buFont typeface="JetBrains Mono"/>
              <a:buNone/>
            </a:pPr>
            <a:r>
              <a:rPr lang="en-US" sz="1125" b="1" i="0" u="none" strike="noStrike" cap="none">
                <a:solidFill>
                  <a:srgbClr val="2A7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QRR Rs 46.3 lac · Q4 27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0"/>
          <p:cNvSpPr/>
          <p:nvPr/>
        </p:nvSpPr>
        <p:spPr>
          <a:xfrm>
            <a:off x="10636145" y="1956396"/>
            <a:ext cx="6603881" cy="5449607"/>
          </a:xfrm>
          <a:prstGeom prst="roundRect">
            <a:avLst>
              <a:gd name="adj" fmla="val 2797"/>
            </a:avLst>
          </a:prstGeom>
          <a:solidFill>
            <a:srgbClr val="1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20"/>
          <p:cNvSpPr/>
          <p:nvPr/>
        </p:nvSpPr>
        <p:spPr>
          <a:xfrm>
            <a:off x="10959994" y="3835059"/>
            <a:ext cx="6551802" cy="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125"/>
              <a:buFont typeface="JetBrains Mono"/>
              <a:buNone/>
            </a:pPr>
            <a:r>
              <a:rPr lang="en-US" sz="1125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LTV : CAC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0"/>
          <p:cNvSpPr/>
          <p:nvPr/>
        </p:nvSpPr>
        <p:spPr>
          <a:xfrm>
            <a:off x="10959994" y="4113911"/>
            <a:ext cx="6551802" cy="822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Space Grotesk"/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≈ 5 : 1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0"/>
          <p:cNvSpPr/>
          <p:nvPr/>
        </p:nvSpPr>
        <p:spPr>
          <a:xfrm>
            <a:off x="10959994" y="4993767"/>
            <a:ext cx="6134869" cy="571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174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1500"/>
              <a:buFont typeface="Space Grotesk"/>
              <a:buNone/>
            </a:pPr>
            <a:r>
              <a:rPr lang="en-US" sz="1500" b="0" i="0" u="none" strike="noStrike" cap="none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Rs 1.11 lac lifetime value against ~Rs 22K to acquire — it holds because acquisition is warm-intro, not paid.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0"/>
          <p:cNvSpPr/>
          <p:nvPr/>
        </p:nvSpPr>
        <p:spPr>
          <a:xfrm>
            <a:off x="10636145" y="7634511"/>
            <a:ext cx="6603881" cy="1349653"/>
          </a:xfrm>
          <a:prstGeom prst="roundRect">
            <a:avLst>
              <a:gd name="adj" fmla="val 11292"/>
            </a:avLst>
          </a:prstGeom>
          <a:solidFill>
            <a:srgbClr val="FFFFFF"/>
          </a:solidFill>
          <a:ln w="9525" cap="flat" cmpd="sng">
            <a:solidFill>
              <a:srgbClr val="E3DC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20"/>
          <p:cNvSpPr/>
          <p:nvPr/>
        </p:nvSpPr>
        <p:spPr>
          <a:xfrm>
            <a:off x="10930126" y="7871365"/>
            <a:ext cx="1203736" cy="40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7A8A"/>
              </a:buClr>
              <a:buSzPts val="2250"/>
              <a:buFont typeface="Space Grotesk"/>
              <a:buNone/>
            </a:pPr>
            <a:r>
              <a:rPr lang="en-US" sz="2250" b="1" i="0" u="none" strike="noStrike" cap="none">
                <a:solidFill>
                  <a:srgbClr val="2A7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Q4 2027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0"/>
          <p:cNvSpPr/>
          <p:nvPr/>
        </p:nvSpPr>
        <p:spPr>
          <a:xfrm>
            <a:off x="10930126" y="8276731"/>
            <a:ext cx="2858470" cy="508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8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425"/>
              <a:buFont typeface="Space Grotesk"/>
              <a:buNone/>
            </a:pPr>
            <a:r>
              <a:rPr lang="en-US" sz="142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First enterprise contract — the model turns.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0"/>
          <p:cNvSpPr/>
          <p:nvPr/>
        </p:nvSpPr>
        <p:spPr>
          <a:xfrm>
            <a:off x="13933847" y="7871365"/>
            <a:ext cx="9525" cy="875944"/>
          </a:xfrm>
          <a:prstGeom prst="rect">
            <a:avLst/>
          </a:prstGeom>
          <a:solidFill>
            <a:srgbClr val="E3DC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0"/>
          <p:cNvSpPr/>
          <p:nvPr/>
        </p:nvSpPr>
        <p:spPr>
          <a:xfrm>
            <a:off x="14170701" y="7871365"/>
            <a:ext cx="1173217" cy="40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50"/>
              <a:buFont typeface="Space Grotesk"/>
              <a:buNone/>
            </a:pPr>
            <a:r>
              <a:rPr lang="en-US" sz="2250" b="1" i="0" u="none" strike="noStrike" cap="none">
                <a:solidFill>
                  <a:srgbClr val="1A3A5C"/>
                </a:solidFill>
                <a:latin typeface="Space Grotesk"/>
                <a:ea typeface="Space Grotesk"/>
                <a:cs typeface="Space Grotesk"/>
                <a:sym typeface="Space Grotesk"/>
              </a:rPr>
              <a:t>30 sites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0"/>
          <p:cNvSpPr/>
          <p:nvPr/>
        </p:nvSpPr>
        <p:spPr>
          <a:xfrm>
            <a:off x="14170701" y="8276731"/>
            <a:ext cx="2858604" cy="508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4388"/>
              </a:lnSpc>
              <a:spcBef>
                <a:spcPts val="0"/>
              </a:spcBef>
              <a:spcAft>
                <a:spcPts val="0"/>
              </a:spcAft>
              <a:buClr>
                <a:srgbClr val="40515F"/>
              </a:buClr>
              <a:buSzPts val="1425"/>
              <a:buFont typeface="Space Grotesk"/>
              <a:buNone/>
            </a:pPr>
            <a:r>
              <a:rPr lang="en-US" sz="1425" b="0" i="0" u="none" strike="noStrike" cap="none">
                <a:solidFill>
                  <a:srgbClr val="40515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base that makes the enterprise sale credible.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0"/>
          <p:cNvSpPr/>
          <p:nvPr/>
        </p:nvSpPr>
        <p:spPr>
          <a:xfrm>
            <a:off x="1047715" y="9288840"/>
            <a:ext cx="17811686" cy="331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9830"/>
              </a:lnSpc>
              <a:spcBef>
                <a:spcPts val="0"/>
              </a:spcBef>
              <a:spcAft>
                <a:spcPts val="0"/>
              </a:spcAft>
              <a:buClr>
                <a:srgbClr val="8B7355"/>
              </a:buClr>
              <a:buSzPts val="1650"/>
              <a:buFont typeface="Space Grotesk"/>
              <a:buNone/>
            </a:pPr>
            <a:r>
              <a:rPr lang="en-US" sz="1650" b="0" i="0" u="none" strike="noStrike" cap="none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LTV assumes a 3-year site life — an assumption, not a measurement. There is no churn data because there are no customers yet.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2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5FB3C4">
                  <a:alpha val="5882"/>
                </a:srgbClr>
              </a:gs>
              <a:gs pos="100000">
                <a:srgbClr val="5FB3C4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22"/>
          <p:cNvSpPr/>
          <p:nvPr/>
        </p:nvSpPr>
        <p:spPr>
          <a:xfrm>
            <a:off x="1047715" y="761951"/>
            <a:ext cx="8461232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425"/>
              <a:buFont typeface="JetBrains Mono"/>
              <a:buNone/>
            </a:pPr>
            <a:r>
              <a:rPr lang="en-US" sz="1425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19 · THE ASK</a:t>
            </a:r>
            <a:endParaRPr sz="14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2"/>
          <p:cNvSpPr/>
          <p:nvPr/>
        </p:nvSpPr>
        <p:spPr>
          <a:xfrm>
            <a:off x="1047715" y="1175403"/>
            <a:ext cx="8461232" cy="742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81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Space Grotesk"/>
              <a:buNone/>
            </a:pPr>
            <a:r>
              <a:rPr lang="en-US" sz="55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we want from NIC.</a:t>
            </a:r>
            <a:endParaRPr sz="5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2"/>
          <p:cNvSpPr/>
          <p:nvPr/>
        </p:nvSpPr>
        <p:spPr>
          <a:xfrm>
            <a:off x="16097230" y="761951"/>
            <a:ext cx="1142927" cy="1142927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7" name="Google Shape;747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97230" y="761951"/>
            <a:ext cx="1142927" cy="11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22"/>
          <p:cNvSpPr/>
          <p:nvPr/>
        </p:nvSpPr>
        <p:spPr>
          <a:xfrm>
            <a:off x="1047715" y="4506494"/>
            <a:ext cx="7829499" cy="9525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22"/>
          <p:cNvSpPr/>
          <p:nvPr/>
        </p:nvSpPr>
        <p:spPr>
          <a:xfrm>
            <a:off x="1047715" y="4156169"/>
            <a:ext cx="8064384" cy="255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275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NIC DE-RISKS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2"/>
          <p:cNvSpPr/>
          <p:nvPr/>
        </p:nvSpPr>
        <p:spPr>
          <a:xfrm>
            <a:off x="1047715" y="4724306"/>
            <a:ext cx="8064384" cy="784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827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2100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Warm introductions to plant directors and sector associations — the enterprise reach we can't buy.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2"/>
          <p:cNvSpPr/>
          <p:nvPr/>
        </p:nvSpPr>
        <p:spPr>
          <a:xfrm>
            <a:off x="1047715" y="5680593"/>
            <a:ext cx="8064384" cy="784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827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2100"/>
              <a:buFont typeface="Space Grotesk"/>
              <a:buNone/>
            </a:pPr>
            <a:r>
              <a:rPr lang="en-US" sz="2400" b="0" i="0" u="none" strike="noStrike" cap="none" dirty="0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Industrial go-to-market mentorship, and buyer-side credibility.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2"/>
          <p:cNvSpPr/>
          <p:nvPr/>
        </p:nvSpPr>
        <p:spPr>
          <a:xfrm>
            <a:off x="9410528" y="4506494"/>
            <a:ext cx="7829629" cy="9525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22"/>
          <p:cNvSpPr/>
          <p:nvPr/>
        </p:nvSpPr>
        <p:spPr>
          <a:xfrm>
            <a:off x="9410528" y="4156169"/>
            <a:ext cx="8064518" cy="255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275"/>
              <a:buFont typeface="JetBrains Mono"/>
              <a:buNone/>
            </a:pPr>
            <a:r>
              <a:rPr lang="en-US" sz="1800" b="0" i="0" u="none" strike="noStrike" cap="none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THE 12 MONTHS PROVE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2"/>
          <p:cNvSpPr/>
          <p:nvPr/>
        </p:nvSpPr>
        <p:spPr>
          <a:xfrm>
            <a:off x="9410528" y="4724306"/>
            <a:ext cx="8064518" cy="784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827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2100"/>
              <a:buFont typeface="Space Grotesk"/>
              <a:buNone/>
            </a:pPr>
            <a:r>
              <a:rPr lang="en-US" sz="2400" b="0" i="0" u="none" strike="noStrike" cap="none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A working install base and a repeatable playbook — delivery no longer founder-dependent.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2"/>
          <p:cNvSpPr/>
          <p:nvPr/>
        </p:nvSpPr>
        <p:spPr>
          <a:xfrm>
            <a:off x="9410528" y="5680593"/>
            <a:ext cx="8064518" cy="784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1827"/>
              </a:lnSpc>
              <a:spcBef>
                <a:spcPts val="0"/>
              </a:spcBef>
              <a:spcAft>
                <a:spcPts val="0"/>
              </a:spcAft>
              <a:buClr>
                <a:srgbClr val="C7D6E0"/>
              </a:buClr>
              <a:buSzPts val="2100"/>
              <a:buFont typeface="Space Grotesk"/>
              <a:buNone/>
            </a:pPr>
            <a:r>
              <a:rPr lang="en-US" sz="2400" b="0" i="0" u="none" strike="noStrike" cap="none">
                <a:solidFill>
                  <a:srgbClr val="C7D6E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first enterprise reference — making the next raise a real conversation.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2"/>
          <p:cNvSpPr/>
          <p:nvPr/>
        </p:nvSpPr>
        <p:spPr>
          <a:xfrm>
            <a:off x="1047715" y="8678575"/>
            <a:ext cx="16192442" cy="9525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22"/>
          <p:cNvSpPr/>
          <p:nvPr/>
        </p:nvSpPr>
        <p:spPr>
          <a:xfrm>
            <a:off x="1114464" y="9175747"/>
            <a:ext cx="3462631" cy="31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350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2nd Runner-Up · ELXR'26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2"/>
          <p:cNvSpPr/>
          <p:nvPr/>
        </p:nvSpPr>
        <p:spPr>
          <a:xfrm>
            <a:off x="4347584" y="9175747"/>
            <a:ext cx="238391" cy="31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93A6"/>
              </a:buClr>
              <a:buSzPts val="1350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7E93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2"/>
          <p:cNvSpPr/>
          <p:nvPr/>
        </p:nvSpPr>
        <p:spPr>
          <a:xfrm>
            <a:off x="4586296" y="9175747"/>
            <a:ext cx="3161489" cy="31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350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Full stack in 8 weeks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2"/>
          <p:cNvSpPr/>
          <p:nvPr/>
        </p:nvSpPr>
        <p:spPr>
          <a:xfrm>
            <a:off x="7576287" y="9175747"/>
            <a:ext cx="238391" cy="31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93A6"/>
              </a:buClr>
              <a:buSzPts val="1350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7E93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2"/>
          <p:cNvSpPr/>
          <p:nvPr/>
        </p:nvSpPr>
        <p:spPr>
          <a:xfrm>
            <a:off x="7970025" y="9175747"/>
            <a:ext cx="5269086" cy="31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350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First site lined up · HSK Bone Care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3F"/>
        </a:solidFill>
        <a:effectLst/>
      </p:bgPr>
    </p:bg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3"/>
          <p:cNvSpPr/>
          <p:nvPr/>
        </p:nvSpPr>
        <p:spPr>
          <a:xfrm>
            <a:off x="0" y="0"/>
            <a:ext cx="18287872" cy="10286993"/>
          </a:xfrm>
          <a:prstGeom prst="rect">
            <a:avLst/>
          </a:prstGeom>
          <a:gradFill>
            <a:gsLst>
              <a:gs pos="0">
                <a:srgbClr val="5FB3C4">
                  <a:alpha val="5882"/>
                </a:srgbClr>
              </a:gs>
              <a:gs pos="100000">
                <a:srgbClr val="5FB3C4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23"/>
          <p:cNvSpPr/>
          <p:nvPr/>
        </p:nvSpPr>
        <p:spPr>
          <a:xfrm>
            <a:off x="1047715" y="838120"/>
            <a:ext cx="1361665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425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3"/>
          <p:cNvSpPr/>
          <p:nvPr/>
        </p:nvSpPr>
        <p:spPr>
          <a:xfrm>
            <a:off x="14764402" y="838120"/>
            <a:ext cx="2723330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93A6"/>
              </a:buClr>
              <a:buSzPts val="1425"/>
              <a:buFont typeface="JetBrains Mono"/>
              <a:buNone/>
            </a:pPr>
            <a:r>
              <a:rPr lang="en-US" sz="1800" b="0" i="0" u="none" strike="noStrike" cap="none" dirty="0">
                <a:solidFill>
                  <a:srgbClr val="7E93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NIC KARACHI · 2026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Google Shape;771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7294" y="2163764"/>
            <a:ext cx="1361665" cy="136166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23"/>
          <p:cNvSpPr/>
          <p:nvPr/>
        </p:nvSpPr>
        <p:spPr>
          <a:xfrm>
            <a:off x="1047715" y="3809886"/>
            <a:ext cx="17811686" cy="1266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675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0"/>
              <a:buFont typeface="Space Grotesk"/>
              <a:buNone/>
            </a:pPr>
            <a:r>
              <a:rPr lang="en-US" sz="11250" b="1" i="0" u="none" strike="noStrike" cap="none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Twin</a:t>
            </a:r>
            <a:r>
              <a:rPr lang="en-US" sz="11250" b="1" i="0" u="none" strike="noStrike" cap="none" dirty="0" err="1">
                <a:solidFill>
                  <a:srgbClr val="5FB3C4"/>
                </a:solidFill>
                <a:latin typeface="Space Grotesk"/>
                <a:ea typeface="Space Grotesk"/>
                <a:cs typeface="Space Grotesk"/>
                <a:sym typeface="Space Grotesk"/>
              </a:rPr>
              <a:t>Lab</a:t>
            </a:r>
            <a:endParaRPr sz="1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3"/>
          <p:cNvSpPr/>
          <p:nvPr/>
        </p:nvSpPr>
        <p:spPr>
          <a:xfrm>
            <a:off x="1047715" y="5286053"/>
            <a:ext cx="13734977" cy="1061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7636"/>
              </a:lnSpc>
              <a:spcBef>
                <a:spcPts val="0"/>
              </a:spcBef>
              <a:spcAft>
                <a:spcPts val="0"/>
              </a:spcAft>
              <a:buClr>
                <a:srgbClr val="EAF4F7"/>
              </a:buClr>
              <a:buSzPts val="3600"/>
              <a:buFont typeface="Space Grotesk"/>
              <a:buNone/>
            </a:pPr>
            <a:r>
              <a:rPr lang="en-US" sz="3600" b="0" i="0" u="none" strike="noStrike" cap="none">
                <a:solidFill>
                  <a:srgbClr val="EAF4F7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Every rupee spent on foreign maintenance software leaves Pakistan. </a:t>
            </a:r>
            <a:r>
              <a:rPr lang="en-US" sz="3600" b="0" i="0" u="none" strike="noStrike" cap="none">
                <a:solidFill>
                  <a:srgbClr val="5FB3C4"/>
                </a:solidFill>
                <a:latin typeface="Space Grotesk"/>
                <a:ea typeface="Space Grotesk"/>
                <a:cs typeface="Space Grotesk"/>
                <a:sym typeface="Space Grotesk"/>
              </a:rPr>
              <a:t>TwinLab keeps it here.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3"/>
          <p:cNvSpPr/>
          <p:nvPr/>
        </p:nvSpPr>
        <p:spPr>
          <a:xfrm>
            <a:off x="1047715" y="7877756"/>
            <a:ext cx="16192442" cy="9525"/>
          </a:xfrm>
          <a:prstGeom prst="rect">
            <a:avLst/>
          </a:prstGeom>
          <a:solidFill>
            <a:srgbClr val="3356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3"/>
          <p:cNvSpPr/>
          <p:nvPr/>
        </p:nvSpPr>
        <p:spPr>
          <a:xfrm>
            <a:off x="1047715" y="8171738"/>
            <a:ext cx="6655674" cy="23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B3C4"/>
              </a:buClr>
              <a:buSzPts val="1200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5FB3C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CONTACT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3"/>
          <p:cNvSpPr/>
          <p:nvPr/>
        </p:nvSpPr>
        <p:spPr>
          <a:xfrm>
            <a:off x="1047715" y="8429199"/>
            <a:ext cx="6655674" cy="37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Space Grotesk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Muhammad Arham </a:t>
            </a:r>
            <a:r>
              <a:rPr lang="en-US" sz="1800" b="0" i="0" u="none" strike="noStrike" cap="none">
                <a:solidFill>
                  <a:srgbClr val="B9CAD6"/>
                </a:solidFill>
                <a:latin typeface="Space Grotesk"/>
                <a:ea typeface="Space Grotesk"/>
                <a:cs typeface="Space Grotesk"/>
                <a:sym typeface="Space Grotesk"/>
              </a:rPr>
              <a:t>· Founder &amp; CEO, OmniteX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3"/>
          <p:cNvSpPr/>
          <p:nvPr/>
        </p:nvSpPr>
        <p:spPr>
          <a:xfrm>
            <a:off x="1047715" y="8820218"/>
            <a:ext cx="6957296" cy="66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7675"/>
              </a:lnSpc>
              <a:spcBef>
                <a:spcPts val="0"/>
              </a:spcBef>
              <a:spcAft>
                <a:spcPts val="0"/>
              </a:spcAft>
              <a:buClr>
                <a:srgbClr val="B9CAD6"/>
              </a:buClr>
              <a:buSzPts val="1650"/>
              <a:buFont typeface="Space Grotesk"/>
              <a:buNone/>
            </a:pPr>
            <a:r>
              <a:rPr lang="en-US" sz="1800" b="0" i="0" u="none" strike="noStrike" cap="none" dirty="0">
                <a:solidFill>
                  <a:srgbClr val="B9CAD6"/>
                </a:solidFill>
                <a:latin typeface="Space Grotesk"/>
                <a:ea typeface="Space Grotesk"/>
                <a:cs typeface="Space Grotesk"/>
                <a:sym typeface="Space Grotesk"/>
              </a:rPr>
              <a:t>arhamurrahemeen@gmail.com · +92 313 360 4959 linkedin.com/in/</a:t>
            </a:r>
            <a:r>
              <a:rPr lang="en-US" sz="1800" b="0" i="0" u="none" strike="noStrike" cap="none" dirty="0" err="1">
                <a:solidFill>
                  <a:srgbClr val="B9CAD6"/>
                </a:solidFill>
                <a:latin typeface="Space Grotesk"/>
                <a:ea typeface="Space Grotesk"/>
                <a:cs typeface="Space Grotesk"/>
                <a:sym typeface="Space Grotesk"/>
              </a:rPr>
              <a:t>muhammad-arham-rajput</a:t>
            </a:r>
            <a:r>
              <a:rPr lang="en-US" sz="1800" b="0" i="0" u="none" strike="noStrike" cap="none" dirty="0">
                <a:solidFill>
                  <a:srgbClr val="B9CAD6"/>
                </a:solidFill>
                <a:latin typeface="Space Grotesk"/>
                <a:ea typeface="Space Grotesk"/>
                <a:cs typeface="Space Grotesk"/>
                <a:sym typeface="Space Grotesk"/>
              </a:rPr>
              <a:t> · Karachi, Pakistan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3"/>
          <p:cNvSpPr/>
          <p:nvPr/>
        </p:nvSpPr>
        <p:spPr>
          <a:xfrm>
            <a:off x="14422555" y="9152544"/>
            <a:ext cx="1674141" cy="26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8E75"/>
              </a:buClr>
              <a:buSzPts val="1350"/>
              <a:buFont typeface="JetBrains Mono"/>
              <a:buNone/>
            </a:pPr>
            <a:r>
              <a:rPr lang="en-US" sz="1350" b="0" i="0" u="none" strike="noStrike" cap="none">
                <a:solidFill>
                  <a:srgbClr val="9C8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PRODUCT OF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3"/>
          <p:cNvSpPr/>
          <p:nvPr/>
        </p:nvSpPr>
        <p:spPr>
          <a:xfrm>
            <a:off x="15897726" y="9031706"/>
            <a:ext cx="1418630" cy="455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Space Grotesk"/>
              <a:buNone/>
            </a:pPr>
            <a:r>
              <a:rPr lang="en-US" sz="2250" b="1" i="0" u="none" strike="noStrike" cap="none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Omni</a:t>
            </a:r>
            <a:r>
              <a:rPr lang="en-US" sz="2250" b="1" i="0" u="none" strike="noStrike" cap="none" dirty="0" err="1">
                <a:solidFill>
                  <a:srgbClr val="8B7355"/>
                </a:solidFill>
                <a:latin typeface="Space Grotesk"/>
                <a:ea typeface="Space Grotesk"/>
                <a:cs typeface="Space Grotesk"/>
                <a:sym typeface="Space Grotesk"/>
              </a:rPr>
              <a:t>te</a:t>
            </a:r>
            <a:r>
              <a:rPr lang="en-US" sz="2250" b="1" i="0" u="none" strike="noStrike" cap="none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X</a:t>
            </a:r>
            <a:endParaRPr sz="2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4076</Words>
  <Application>Microsoft Office PowerPoint</Application>
  <PresentationFormat>Custom</PresentationFormat>
  <Paragraphs>413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JetBrains Mono</vt:lpstr>
      <vt:lpstr>Arial</vt:lpstr>
      <vt:lpstr>Noto Nastaliq Urdu</vt:lpstr>
      <vt:lpstr>Calibri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Arham</cp:lastModifiedBy>
  <cp:revision>15</cp:revision>
  <dcterms:modified xsi:type="dcterms:W3CDTF">2026-09-07T17:11:29Z</dcterms:modified>
</cp:coreProperties>
</file>